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78" r:id="rId2"/>
    <p:sldId id="258" r:id="rId3"/>
    <p:sldId id="279"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4"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37AF3E5-A410-44CA-8246-31798E2C29AC}" v="56" dt="2026-07-25T10:25:31.14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0" d="100"/>
          <a:sy n="60" d="100"/>
        </p:scale>
        <p:origin x="60" y="1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dLbls>
          <c:showLegendKey val="0"/>
          <c:showVal val="1"/>
          <c:showCatName val="0"/>
          <c:showSerName val="0"/>
          <c:showPercent val="0"/>
          <c:showBubbleSize val="0"/>
        </c:dLbls>
        <c:gapWidth val="25"/>
        <c:axId val="2094734554"/>
        <c:axId val="2094734552"/>
      </c:barChart>
      <c:catAx>
        <c:axId val="2094734554"/>
        <c:scaling>
          <c:orientation val="minMax"/>
        </c:scaling>
        <c:delete val="0"/>
        <c:axPos val="b"/>
        <c:title>
          <c:tx>
            <c:rich>
              <a:bodyPr/>
              <a:lstStyle/>
              <a:p>
                <a:pPr>
                  <a:defRPr sz="1100" b="0" i="0" u="none" strike="noStrike">
                    <a:solidFill>
                      <a:srgbClr val="6B6B6B"/>
                    </a:solidFill>
                    <a:latin typeface="Arial"/>
                  </a:defRPr>
                </a:pPr>
                <a:r>
                  <a:rPr lang="en-IN" sz="1100" b="0" i="0" u="none" strike="noStrike">
                    <a:solidFill>
                      <a:srgbClr val="6B6B6B"/>
                    </a:solidFill>
                    <a:latin typeface="Arial"/>
                  </a:rPr>
                  <a:t>Price Range (₹)</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6B6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E8E8E8"/>
              </a:solidFill>
              <a:prstDash val="solid"/>
              <a:round/>
            </a:ln>
          </c:spPr>
        </c:majorGridlines>
        <c:title>
          <c:tx>
            <c:rich>
              <a:bodyPr/>
              <a:lstStyle/>
              <a:p>
                <a:pPr>
                  <a:defRPr sz="1100" b="0" i="0" u="none" strike="noStrike">
                    <a:solidFill>
                      <a:srgbClr val="6B6B6B"/>
                    </a:solidFill>
                    <a:latin typeface="Arial"/>
                  </a:defRPr>
                </a:pPr>
                <a:r>
                  <a:rPr lang="en-IN" sz="1100" b="0" i="0" u="none" strike="noStrike">
                    <a:solidFill>
                      <a:srgbClr val="6B6B6B"/>
                    </a:solidFill>
                    <a:latin typeface="Arial"/>
                  </a:rPr>
                  <a:t>Number of Laptops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81416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fld id="{00000000-1234-1234-1234-123412341234}" type="slidenum">
              <a:rPr lang="en-IN" smtClean="0"/>
              <a:pPr/>
              <a:t>‹#›</a:t>
            </a:fld>
            <a:endParaRPr lang="en-IN"/>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extLst>
      <p:ext uri="{BB962C8B-B14F-4D97-AF65-F5344CB8AC3E}">
        <p14:creationId xmlns:p14="http://schemas.microsoft.com/office/powerpoint/2010/main" val="372754110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 y="-189186"/>
            <a:ext cx="12190815" cy="6377336"/>
          </a:xfrm>
          <a:prstGeom prst="rect">
            <a:avLst/>
          </a:prstGeom>
          <a:noFill/>
          <a:ln>
            <a:noFill/>
          </a:ln>
        </p:spPr>
      </p:pic>
      <p:sp>
        <p:nvSpPr>
          <p:cNvPr id="99" name="Google Shape;99;p1"/>
          <p:cNvSpPr txBox="1"/>
          <p:nvPr/>
        </p:nvSpPr>
        <p:spPr>
          <a:xfrm>
            <a:off x="1776248" y="3096846"/>
            <a:ext cx="9112469" cy="1446509"/>
          </a:xfrm>
          <a:prstGeom prst="rect">
            <a:avLst/>
          </a:prstGeom>
          <a:noFill/>
          <a:ln>
            <a:noFill/>
          </a:ln>
        </p:spPr>
        <p:txBody>
          <a:bodyPr spcFirstLastPara="1" wrap="square" lIns="91425" tIns="45700" rIns="91425" bIns="45700" anchor="t" anchorCtr="0">
            <a:spAutoFit/>
          </a:bodyPr>
          <a:lstStyle/>
          <a:p>
            <a:pPr algn="ctr"/>
            <a:r>
              <a:rPr lang="en-US" sz="8800" b="1" dirty="0">
                <a:solidFill>
                  <a:srgbClr val="0070C0"/>
                </a:solidFill>
                <a:latin typeface="Times New Roman" panose="02020603050405020304" pitchFamily="18" charset="0"/>
                <a:ea typeface="Cambria" pitchFamily="34" charset="-122"/>
                <a:cs typeface="Times New Roman" panose="02020603050405020304" pitchFamily="18" charset="0"/>
              </a:rPr>
              <a:t>Laptop Analysis</a:t>
            </a:r>
            <a:endParaRPr lang="en-US" sz="8800" dirty="0">
              <a:solidFill>
                <a:srgbClr val="0070C0"/>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731520"/>
          </a:xfrm>
          <a:prstGeom prst="rect">
            <a:avLst/>
          </a:prstGeom>
          <a:noFill/>
          <a:ln/>
        </p:spPr>
        <p:txBody>
          <a:bodyPr wrap="square"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Agenda</a:t>
            </a:r>
            <a:endParaRPr lang="en-US" sz="3000" dirty="0"/>
          </a:p>
        </p:txBody>
      </p:sp>
      <p:sp>
        <p:nvSpPr>
          <p:cNvPr id="3" name="Shape 1"/>
          <p:cNvSpPr/>
          <p:nvPr/>
        </p:nvSpPr>
        <p:spPr>
          <a:xfrm>
            <a:off x="548640" y="1234440"/>
            <a:ext cx="2011680" cy="0"/>
          </a:xfrm>
          <a:prstGeom prst="line">
            <a:avLst/>
          </a:prstGeom>
          <a:noFill/>
          <a:ln w="31750">
            <a:solidFill>
              <a:srgbClr val="C8102E"/>
            </a:solidFill>
            <a:prstDash val="solid"/>
          </a:ln>
        </p:spPr>
        <p:txBody>
          <a:bodyPr/>
          <a:lstStyle/>
          <a:p>
            <a:endParaRPr lang="en-IN"/>
          </a:p>
        </p:txBody>
      </p:sp>
      <p:sp>
        <p:nvSpPr>
          <p:cNvPr id="4" name="Shape 2"/>
          <p:cNvSpPr/>
          <p:nvPr/>
        </p:nvSpPr>
        <p:spPr>
          <a:xfrm>
            <a:off x="640080" y="1783080"/>
            <a:ext cx="457200" cy="457200"/>
          </a:xfrm>
          <a:prstGeom prst="ellipse">
            <a:avLst/>
          </a:prstGeom>
          <a:solidFill>
            <a:srgbClr val="C8102E"/>
          </a:solidFill>
          <a:ln/>
        </p:spPr>
        <p:txBody>
          <a:bodyPr/>
          <a:lstStyle/>
          <a:p>
            <a:endParaRPr lang="en-IN"/>
          </a:p>
        </p:txBody>
      </p:sp>
      <p:sp>
        <p:nvSpPr>
          <p:cNvPr id="5" name="Text 3"/>
          <p:cNvSpPr/>
          <p:nvPr/>
        </p:nvSpPr>
        <p:spPr>
          <a:xfrm>
            <a:off x="640080" y="1783080"/>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325880" y="1801368"/>
            <a:ext cx="9601200" cy="45720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Objective of the Project</a:t>
            </a:r>
            <a:endParaRPr lang="en-US" sz="1600" dirty="0"/>
          </a:p>
        </p:txBody>
      </p:sp>
      <p:sp>
        <p:nvSpPr>
          <p:cNvPr id="7" name="Shape 5"/>
          <p:cNvSpPr/>
          <p:nvPr/>
        </p:nvSpPr>
        <p:spPr>
          <a:xfrm>
            <a:off x="640080" y="2359152"/>
            <a:ext cx="457200" cy="457200"/>
          </a:xfrm>
          <a:prstGeom prst="ellipse">
            <a:avLst/>
          </a:prstGeom>
          <a:solidFill>
            <a:srgbClr val="1A1A1A"/>
          </a:solidFill>
          <a:ln/>
        </p:spPr>
        <p:txBody>
          <a:bodyPr/>
          <a:lstStyle/>
          <a:p>
            <a:endParaRPr lang="en-IN"/>
          </a:p>
        </p:txBody>
      </p:sp>
      <p:sp>
        <p:nvSpPr>
          <p:cNvPr id="8" name="Text 6"/>
          <p:cNvSpPr/>
          <p:nvPr/>
        </p:nvSpPr>
        <p:spPr>
          <a:xfrm>
            <a:off x="640080" y="2359152"/>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325880" y="2377440"/>
            <a:ext cx="9601200" cy="45720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Dataset Overview &amp; Data Collection</a:t>
            </a:r>
            <a:endParaRPr lang="en-US" sz="1600" dirty="0"/>
          </a:p>
        </p:txBody>
      </p:sp>
      <p:sp>
        <p:nvSpPr>
          <p:cNvPr id="10" name="Shape 8"/>
          <p:cNvSpPr/>
          <p:nvPr/>
        </p:nvSpPr>
        <p:spPr>
          <a:xfrm>
            <a:off x="640080" y="2935224"/>
            <a:ext cx="457200" cy="457200"/>
          </a:xfrm>
          <a:prstGeom prst="ellipse">
            <a:avLst/>
          </a:prstGeom>
          <a:solidFill>
            <a:srgbClr val="C8102E"/>
          </a:solidFill>
          <a:ln/>
        </p:spPr>
        <p:txBody>
          <a:bodyPr/>
          <a:lstStyle/>
          <a:p>
            <a:endParaRPr lang="en-IN"/>
          </a:p>
        </p:txBody>
      </p:sp>
      <p:sp>
        <p:nvSpPr>
          <p:cNvPr id="11" name="Text 9"/>
          <p:cNvSpPr/>
          <p:nvPr/>
        </p:nvSpPr>
        <p:spPr>
          <a:xfrm>
            <a:off x="640080" y="2935224"/>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325880" y="2953512"/>
            <a:ext cx="9601200" cy="45720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Data Cleaning &amp; Preparation</a:t>
            </a:r>
            <a:endParaRPr lang="en-US" sz="1600" dirty="0"/>
          </a:p>
        </p:txBody>
      </p:sp>
      <p:sp>
        <p:nvSpPr>
          <p:cNvPr id="13" name="Shape 11"/>
          <p:cNvSpPr/>
          <p:nvPr/>
        </p:nvSpPr>
        <p:spPr>
          <a:xfrm>
            <a:off x="640080" y="3511296"/>
            <a:ext cx="457200" cy="457200"/>
          </a:xfrm>
          <a:prstGeom prst="ellipse">
            <a:avLst/>
          </a:prstGeom>
          <a:solidFill>
            <a:srgbClr val="1A1A1A"/>
          </a:solidFill>
          <a:ln/>
        </p:spPr>
        <p:txBody>
          <a:bodyPr/>
          <a:lstStyle/>
          <a:p>
            <a:endParaRPr lang="en-IN"/>
          </a:p>
        </p:txBody>
      </p:sp>
      <p:sp>
        <p:nvSpPr>
          <p:cNvPr id="14" name="Text 12"/>
          <p:cNvSpPr/>
          <p:nvPr/>
        </p:nvSpPr>
        <p:spPr>
          <a:xfrm>
            <a:off x="640080" y="3511296"/>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325880" y="3529584"/>
            <a:ext cx="9601200" cy="45720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Exploratory Data Analysis (Key Use Cases)</a:t>
            </a:r>
            <a:endParaRPr lang="en-US" sz="1600" dirty="0"/>
          </a:p>
        </p:txBody>
      </p:sp>
      <p:sp>
        <p:nvSpPr>
          <p:cNvPr id="16" name="Shape 14"/>
          <p:cNvSpPr/>
          <p:nvPr/>
        </p:nvSpPr>
        <p:spPr>
          <a:xfrm>
            <a:off x="640080" y="4087368"/>
            <a:ext cx="457200" cy="457200"/>
          </a:xfrm>
          <a:prstGeom prst="ellipse">
            <a:avLst/>
          </a:prstGeom>
          <a:solidFill>
            <a:srgbClr val="C8102E"/>
          </a:solidFill>
          <a:ln/>
        </p:spPr>
        <p:txBody>
          <a:bodyPr/>
          <a:lstStyle/>
          <a:p>
            <a:endParaRPr lang="en-IN"/>
          </a:p>
        </p:txBody>
      </p:sp>
      <p:sp>
        <p:nvSpPr>
          <p:cNvPr id="17" name="Text 15"/>
          <p:cNvSpPr/>
          <p:nvPr/>
        </p:nvSpPr>
        <p:spPr>
          <a:xfrm>
            <a:off x="640080" y="4087368"/>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8" name="Text 16"/>
          <p:cNvSpPr/>
          <p:nvPr/>
        </p:nvSpPr>
        <p:spPr>
          <a:xfrm>
            <a:off x="1325880" y="4105656"/>
            <a:ext cx="9601200" cy="45720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Key Business Insights</a:t>
            </a:r>
            <a:endParaRPr lang="en-US" sz="1600" dirty="0"/>
          </a:p>
        </p:txBody>
      </p:sp>
      <p:sp>
        <p:nvSpPr>
          <p:cNvPr id="19" name="Shape 17"/>
          <p:cNvSpPr/>
          <p:nvPr/>
        </p:nvSpPr>
        <p:spPr>
          <a:xfrm>
            <a:off x="640080" y="4663440"/>
            <a:ext cx="457200" cy="457200"/>
          </a:xfrm>
          <a:prstGeom prst="ellipse">
            <a:avLst/>
          </a:prstGeom>
          <a:solidFill>
            <a:srgbClr val="1A1A1A"/>
          </a:solidFill>
          <a:ln/>
        </p:spPr>
        <p:txBody>
          <a:bodyPr/>
          <a:lstStyle/>
          <a:p>
            <a:endParaRPr lang="en-IN"/>
          </a:p>
        </p:txBody>
      </p:sp>
      <p:sp>
        <p:nvSpPr>
          <p:cNvPr id="20" name="Text 18"/>
          <p:cNvSpPr/>
          <p:nvPr/>
        </p:nvSpPr>
        <p:spPr>
          <a:xfrm>
            <a:off x="640080" y="4663440"/>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21" name="Text 19"/>
          <p:cNvSpPr/>
          <p:nvPr/>
        </p:nvSpPr>
        <p:spPr>
          <a:xfrm>
            <a:off x="1325880" y="4681728"/>
            <a:ext cx="9601200" cy="45720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Conclusion &amp; Recommendations</a:t>
            </a:r>
            <a:endParaRPr lang="en-US" sz="1600" dirty="0"/>
          </a:p>
        </p:txBody>
      </p:sp>
      <p:sp>
        <p:nvSpPr>
          <p:cNvPr id="22" name="Shape 20"/>
          <p:cNvSpPr/>
          <p:nvPr/>
        </p:nvSpPr>
        <p:spPr>
          <a:xfrm>
            <a:off x="640080" y="5239512"/>
            <a:ext cx="457200" cy="457200"/>
          </a:xfrm>
          <a:prstGeom prst="ellipse">
            <a:avLst/>
          </a:prstGeom>
          <a:solidFill>
            <a:srgbClr val="C8102E"/>
          </a:solidFill>
          <a:ln/>
        </p:spPr>
        <p:txBody>
          <a:bodyPr/>
          <a:lstStyle/>
          <a:p>
            <a:endParaRPr lang="en-IN"/>
          </a:p>
        </p:txBody>
      </p:sp>
      <p:sp>
        <p:nvSpPr>
          <p:cNvPr id="23" name="Text 21"/>
          <p:cNvSpPr/>
          <p:nvPr/>
        </p:nvSpPr>
        <p:spPr>
          <a:xfrm>
            <a:off x="640080" y="5239512"/>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24" name="Text 22"/>
          <p:cNvSpPr/>
          <p:nvPr/>
        </p:nvSpPr>
        <p:spPr>
          <a:xfrm>
            <a:off x="1325880" y="5257800"/>
            <a:ext cx="9601200" cy="45720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Challenges Faced</a:t>
            </a:r>
            <a:endParaRPr lang="en-US" sz="1600" dirty="0"/>
          </a:p>
        </p:txBody>
      </p:sp>
      <p:sp>
        <p:nvSpPr>
          <p:cNvPr id="25" name="Shape 23"/>
          <p:cNvSpPr/>
          <p:nvPr/>
        </p:nvSpPr>
        <p:spPr>
          <a:xfrm>
            <a:off x="640080" y="5815584"/>
            <a:ext cx="457200" cy="457200"/>
          </a:xfrm>
          <a:prstGeom prst="ellipse">
            <a:avLst/>
          </a:prstGeom>
          <a:solidFill>
            <a:srgbClr val="1A1A1A"/>
          </a:solidFill>
          <a:ln/>
        </p:spPr>
        <p:txBody>
          <a:bodyPr/>
          <a:lstStyle/>
          <a:p>
            <a:endParaRPr lang="en-IN"/>
          </a:p>
        </p:txBody>
      </p:sp>
      <p:sp>
        <p:nvSpPr>
          <p:cNvPr id="26" name="Text 24"/>
          <p:cNvSpPr/>
          <p:nvPr/>
        </p:nvSpPr>
        <p:spPr>
          <a:xfrm>
            <a:off x="640080" y="5815584"/>
            <a:ext cx="457200" cy="457200"/>
          </a:xfrm>
          <a:prstGeom prst="rect">
            <a:avLst/>
          </a:prstGeom>
          <a:noFill/>
          <a:ln/>
        </p:spPr>
        <p:txBody>
          <a:bodyPr wrap="square"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27" name="Text 25"/>
          <p:cNvSpPr/>
          <p:nvPr/>
        </p:nvSpPr>
        <p:spPr>
          <a:xfrm>
            <a:off x="1325880" y="5833872"/>
            <a:ext cx="9601200" cy="457200"/>
          </a:xfrm>
          <a:prstGeom prst="rect">
            <a:avLst/>
          </a:prstGeom>
          <a:noFill/>
          <a:ln/>
        </p:spPr>
        <p:txBody>
          <a:bodyPr wrap="square" rtlCol="0" anchor="ctr"/>
          <a:lstStyle/>
          <a:p>
            <a:pPr marL="0" indent="0">
              <a:buNone/>
            </a:pPr>
            <a:r>
              <a:rPr lang="en-US" sz="1600" dirty="0">
                <a:solidFill>
                  <a:srgbClr val="1A1A1A"/>
                </a:solidFill>
                <a:latin typeface="Calibri" pitchFamily="34" charset="0"/>
                <a:ea typeface="Calibri" pitchFamily="34" charset="-122"/>
                <a:cs typeface="Calibri" pitchFamily="34" charset="-120"/>
              </a:rPr>
              <a:t>Q&amp;A</a:t>
            </a:r>
            <a:endParaRPr lang="en-US" sz="1600" dirty="0"/>
          </a:p>
        </p:txBody>
      </p:sp>
      <p:sp>
        <p:nvSpPr>
          <p:cNvPr id="28" name="Text 26"/>
          <p:cNvSpPr/>
          <p:nvPr/>
        </p:nvSpPr>
        <p:spPr>
          <a:xfrm>
            <a:off x="457200" y="6537960"/>
            <a:ext cx="5486400" cy="274320"/>
          </a:xfrm>
          <a:prstGeom prst="rect">
            <a:avLst/>
          </a:prstGeom>
          <a:noFill/>
          <a:ln/>
        </p:spPr>
        <p:txBody>
          <a:bodyPr wrap="square"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INNOMATICS RESEARCH LABS</a:t>
            </a:r>
            <a:endParaRPr lang="en-US" sz="900" dirty="0"/>
          </a:p>
        </p:txBody>
      </p:sp>
      <p:sp>
        <p:nvSpPr>
          <p:cNvPr id="29" name="Text 27"/>
          <p:cNvSpPr/>
          <p:nvPr/>
        </p:nvSpPr>
        <p:spPr>
          <a:xfrm>
            <a:off x="11274552" y="6537960"/>
            <a:ext cx="45720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2F756A7-FF73-7044-F9AD-6FEB88D6C830}"/>
              </a:ext>
            </a:extLst>
          </p:cNvPr>
          <p:cNvSpPr txBox="1"/>
          <p:nvPr/>
        </p:nvSpPr>
        <p:spPr>
          <a:xfrm>
            <a:off x="1132114" y="1578429"/>
            <a:ext cx="8817429" cy="1477328"/>
          </a:xfrm>
          <a:prstGeom prst="rect">
            <a:avLst/>
          </a:prstGeom>
          <a:noFill/>
        </p:spPr>
        <p:txBody>
          <a:bodyPr wrap="square" rtlCol="0">
            <a:spAutoFit/>
          </a:bodyPr>
          <a:lstStyle/>
          <a:p>
            <a:pPr algn="just"/>
            <a:r>
              <a:rPr lang="en-IN" dirty="0"/>
              <a:t>Customers often struggle to compare laptops because product information is spread across multiple listings with varying prices, specifications, ratings, and discounts. Manually </a:t>
            </a:r>
            <a:r>
              <a:rPr lang="en-IN" dirty="0" err="1"/>
              <a:t>analyzing</a:t>
            </a:r>
            <a:r>
              <a:rPr lang="en-IN" dirty="0"/>
              <a:t> this large amount of data is time-consuming and inefficient. There is a need for a centralized, interactive solution that collects, </a:t>
            </a:r>
            <a:r>
              <a:rPr lang="en-IN" dirty="0" err="1"/>
              <a:t>analyzes</a:t>
            </a:r>
            <a:r>
              <a:rPr lang="en-IN" dirty="0"/>
              <a:t>, and visualizes laptop market data to help users make informed purchasing decisions.</a:t>
            </a:r>
          </a:p>
        </p:txBody>
      </p:sp>
      <p:sp>
        <p:nvSpPr>
          <p:cNvPr id="5" name="TextBox 4">
            <a:extLst>
              <a:ext uri="{FF2B5EF4-FFF2-40B4-BE49-F238E27FC236}">
                <a16:creationId xmlns:a16="http://schemas.microsoft.com/office/drawing/2014/main" id="{A6DBF0BF-07D3-D77D-316A-9C47113ADE79}"/>
              </a:ext>
            </a:extLst>
          </p:cNvPr>
          <p:cNvSpPr txBox="1"/>
          <p:nvPr/>
        </p:nvSpPr>
        <p:spPr>
          <a:xfrm>
            <a:off x="1132114" y="3242541"/>
            <a:ext cx="6520543" cy="2031325"/>
          </a:xfrm>
          <a:prstGeom prst="rect">
            <a:avLst/>
          </a:prstGeom>
          <a:noFill/>
        </p:spPr>
        <p:txBody>
          <a:bodyPr wrap="square">
            <a:spAutoFit/>
          </a:bodyPr>
          <a:lstStyle/>
          <a:p>
            <a:pPr marL="285750" indent="-285750">
              <a:buFont typeface="Arial" panose="020B0604020202020204" pitchFamily="34" charset="0"/>
              <a:buChar char="•"/>
            </a:pPr>
            <a:r>
              <a:rPr lang="en-IN" b="1" dirty="0"/>
              <a:t>Challenge:</a:t>
            </a:r>
            <a:r>
              <a:rPr lang="en-IN" dirty="0"/>
              <a:t> Manual comparison is slow, difficult, and prone to errors. </a:t>
            </a:r>
          </a:p>
          <a:p>
            <a:endParaRPr lang="en-IN" dirty="0"/>
          </a:p>
          <a:p>
            <a:pPr marL="285750" indent="-285750">
              <a:buFont typeface="Arial" panose="020B0604020202020204" pitchFamily="34" charset="0"/>
              <a:buChar char="•"/>
            </a:pPr>
            <a:r>
              <a:rPr lang="en-IN" b="1" dirty="0"/>
              <a:t>Solution:</a:t>
            </a:r>
            <a:r>
              <a:rPr lang="en-IN" dirty="0"/>
              <a:t> Use </a:t>
            </a:r>
            <a:r>
              <a:rPr lang="en-IN" b="1" dirty="0"/>
              <a:t>Python Web Scraping</a:t>
            </a:r>
            <a:r>
              <a:rPr lang="en-IN" dirty="0"/>
              <a:t> to collect data, </a:t>
            </a:r>
            <a:r>
              <a:rPr lang="en-IN" b="1" dirty="0"/>
              <a:t>EDA</a:t>
            </a:r>
            <a:r>
              <a:rPr lang="en-IN" dirty="0"/>
              <a:t> to analyse it, and </a:t>
            </a:r>
            <a:r>
              <a:rPr lang="en-IN" b="1" dirty="0"/>
              <a:t>Power BI</a:t>
            </a:r>
            <a:r>
              <a:rPr lang="en-IN" dirty="0"/>
              <a:t> to create an interactive dashboard. </a:t>
            </a:r>
            <a:r>
              <a:rPr lang="en-IN" b="1" dirty="0"/>
              <a:t>Outcome:</a:t>
            </a:r>
            <a:r>
              <a:rPr lang="en-IN" dirty="0"/>
              <a:t> Enables faster, data-driven laptop comparison and purchasing decisions.</a:t>
            </a:r>
          </a:p>
        </p:txBody>
      </p:sp>
      <p:sp>
        <p:nvSpPr>
          <p:cNvPr id="7" name="TextBox 6">
            <a:extLst>
              <a:ext uri="{FF2B5EF4-FFF2-40B4-BE49-F238E27FC236}">
                <a16:creationId xmlns:a16="http://schemas.microsoft.com/office/drawing/2014/main" id="{ABC8F6FA-D47F-4B92-3DF2-D50EF762B64E}"/>
              </a:ext>
            </a:extLst>
          </p:cNvPr>
          <p:cNvSpPr txBox="1"/>
          <p:nvPr/>
        </p:nvSpPr>
        <p:spPr>
          <a:xfrm>
            <a:off x="1132114" y="837647"/>
            <a:ext cx="6096000" cy="553998"/>
          </a:xfrm>
          <a:prstGeom prst="rect">
            <a:avLst/>
          </a:prstGeom>
          <a:noFill/>
        </p:spPr>
        <p:txBody>
          <a:bodyPr wrap="square">
            <a:spAutoFit/>
          </a:bodyPr>
          <a:lstStyle/>
          <a:p>
            <a:pPr marL="0" indent="0">
              <a:buNone/>
            </a:pPr>
            <a:r>
              <a:rPr lang="en-US" sz="3000" b="1" dirty="0">
                <a:solidFill>
                  <a:srgbClr val="FF0000"/>
                </a:solidFill>
                <a:latin typeface="Times New Roman" panose="02020603050405020304" pitchFamily="18" charset="0"/>
                <a:cs typeface="Times New Roman" panose="02020603050405020304" pitchFamily="18" charset="0"/>
              </a:rPr>
              <a:t>Problem Statement:</a:t>
            </a:r>
          </a:p>
        </p:txBody>
      </p:sp>
    </p:spTree>
    <p:extLst>
      <p:ext uri="{BB962C8B-B14F-4D97-AF65-F5344CB8AC3E}">
        <p14:creationId xmlns:p14="http://schemas.microsoft.com/office/powerpoint/2010/main" val="39613387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621792"/>
            <a:ext cx="10515600" cy="731520"/>
          </a:xfrm>
          <a:prstGeom prst="rect">
            <a:avLst/>
          </a:prstGeom>
          <a:noFill/>
          <a:ln/>
        </p:spPr>
        <p:txBody>
          <a:bodyPr wrap="square" rtlCol="0" anchor="ctr"/>
          <a:lstStyle/>
          <a:p>
            <a:pPr marL="0" indent="0">
              <a:buNone/>
            </a:pPr>
            <a:r>
              <a:rPr lang="en-US" sz="3000" b="1" dirty="0">
                <a:solidFill>
                  <a:srgbClr val="1A1A1A"/>
                </a:solidFill>
                <a:latin typeface="Times New Roman" panose="02020603050405020304" pitchFamily="18" charset="0"/>
                <a:ea typeface="Cambria" pitchFamily="34" charset="-122"/>
                <a:cs typeface="Times New Roman" panose="02020603050405020304" pitchFamily="18" charset="0"/>
              </a:rPr>
              <a:t>Objective of the Project</a:t>
            </a:r>
            <a:endParaRPr lang="en-US" sz="3000" dirty="0">
              <a:latin typeface="Times New Roman" panose="02020603050405020304" pitchFamily="18" charset="0"/>
              <a:cs typeface="Times New Roman" panose="02020603050405020304" pitchFamily="18" charset="0"/>
            </a:endParaRPr>
          </a:p>
        </p:txBody>
      </p:sp>
      <p:sp>
        <p:nvSpPr>
          <p:cNvPr id="4" name="Shape 2"/>
          <p:cNvSpPr/>
          <p:nvPr/>
        </p:nvSpPr>
        <p:spPr>
          <a:xfrm>
            <a:off x="638484" y="1458468"/>
            <a:ext cx="10730555" cy="4709160"/>
          </a:xfrm>
          <a:prstGeom prst="rect">
            <a:avLst/>
          </a:prstGeom>
          <a:solidFill>
            <a:srgbClr val="F2F2F2"/>
          </a:solidFill>
          <a:ln/>
        </p:spPr>
        <p:txBody>
          <a:bodyPr/>
          <a:lstStyle/>
          <a:p>
            <a:endParaRPr lang="en-IN" dirty="0"/>
          </a:p>
        </p:txBody>
      </p:sp>
      <p:sp>
        <p:nvSpPr>
          <p:cNvPr id="5" name="Text 3"/>
          <p:cNvSpPr/>
          <p:nvPr/>
        </p:nvSpPr>
        <p:spPr>
          <a:xfrm>
            <a:off x="822960" y="1645920"/>
            <a:ext cx="5943600" cy="365760"/>
          </a:xfrm>
          <a:prstGeom prst="rect">
            <a:avLst/>
          </a:prstGeom>
          <a:noFill/>
          <a:ln/>
        </p:spPr>
        <p:txBody>
          <a:bodyPr wrap="square" rtlCol="0" anchor="ctr"/>
          <a:lstStyle/>
          <a:p>
            <a:pPr marL="0" indent="0">
              <a:buNone/>
            </a:pPr>
            <a:endParaRPr lang="en-US" sz="1600" dirty="0">
              <a:latin typeface="Times New Roman" panose="02020603050405020304" pitchFamily="18" charset="0"/>
              <a:cs typeface="Times New Roman" panose="02020603050405020304" pitchFamily="18" charset="0"/>
            </a:endParaRPr>
          </a:p>
        </p:txBody>
      </p:sp>
      <p:sp>
        <p:nvSpPr>
          <p:cNvPr id="6" name="Text 4"/>
          <p:cNvSpPr/>
          <p:nvPr/>
        </p:nvSpPr>
        <p:spPr>
          <a:xfrm>
            <a:off x="822960" y="2057400"/>
            <a:ext cx="5943600" cy="1371600"/>
          </a:xfrm>
          <a:prstGeom prst="rect">
            <a:avLst/>
          </a:prstGeom>
          <a:noFill/>
          <a:ln/>
        </p:spPr>
        <p:txBody>
          <a:bodyPr wrap="square" rtlCol="0" anchor="ctr"/>
          <a:lstStyle/>
          <a:p>
            <a:pPr marL="0" indent="0" algn="just">
              <a:lnSpc>
                <a:spcPct val="125000"/>
              </a:lnSpc>
              <a:buNone/>
            </a:pPr>
            <a:endParaRPr lang="en-US" sz="1400" dirty="0">
              <a:latin typeface="Times New Roman" panose="02020603050405020304" pitchFamily="18" charset="0"/>
              <a:cs typeface="Times New Roman" panose="02020603050405020304" pitchFamily="18" charset="0"/>
            </a:endParaRPr>
          </a:p>
        </p:txBody>
      </p:sp>
      <p:sp>
        <p:nvSpPr>
          <p:cNvPr id="7" name="Text 5"/>
          <p:cNvSpPr/>
          <p:nvPr/>
        </p:nvSpPr>
        <p:spPr>
          <a:xfrm>
            <a:off x="822960" y="3520440"/>
            <a:ext cx="5943600" cy="365760"/>
          </a:xfrm>
          <a:prstGeom prst="rect">
            <a:avLst/>
          </a:prstGeom>
          <a:noFill/>
          <a:ln/>
        </p:spPr>
        <p:txBody>
          <a:bodyPr wrap="square" rtlCol="0" anchor="ctr"/>
          <a:lstStyle/>
          <a:p>
            <a:pPr marL="0" indent="0">
              <a:buNone/>
            </a:pPr>
            <a:r>
              <a:rPr lang="en-US" sz="1600" b="1" dirty="0">
                <a:solidFill>
                  <a:srgbClr val="C8102E"/>
                </a:solidFill>
                <a:latin typeface="Times New Roman" panose="02020603050405020304" pitchFamily="18" charset="0"/>
                <a:ea typeface="Calibri" pitchFamily="34" charset="-122"/>
                <a:cs typeface="Times New Roman" panose="02020603050405020304" pitchFamily="18" charset="0"/>
              </a:rPr>
              <a:t>Approach</a:t>
            </a:r>
            <a:endParaRPr lang="en-US" sz="1600" dirty="0">
              <a:latin typeface="Times New Roman" panose="02020603050405020304" pitchFamily="18" charset="0"/>
              <a:cs typeface="Times New Roman" panose="02020603050405020304" pitchFamily="18" charset="0"/>
            </a:endParaRPr>
          </a:p>
        </p:txBody>
      </p:sp>
      <p:sp>
        <p:nvSpPr>
          <p:cNvPr id="8" name="Text 6"/>
          <p:cNvSpPr/>
          <p:nvPr/>
        </p:nvSpPr>
        <p:spPr>
          <a:xfrm>
            <a:off x="822960" y="3931920"/>
            <a:ext cx="228600" cy="365760"/>
          </a:xfrm>
          <a:prstGeom prst="rect">
            <a:avLst/>
          </a:prstGeom>
          <a:noFill/>
          <a:ln/>
        </p:spPr>
        <p:txBody>
          <a:bodyPr wrap="square" rtlCol="0" anchor="ctr"/>
          <a:lstStyle/>
          <a:p>
            <a:pPr marL="0" indent="0">
              <a:buNone/>
            </a:pPr>
            <a:r>
              <a:rPr lang="en-US" sz="1350" b="1" dirty="0">
                <a:solidFill>
                  <a:srgbClr val="C8102E"/>
                </a:solidFill>
                <a:latin typeface="Calibri" pitchFamily="34" charset="0"/>
                <a:ea typeface="Calibri" pitchFamily="34" charset="-122"/>
                <a:cs typeface="Calibri" pitchFamily="34" charset="-120"/>
              </a:rPr>
              <a:t>•</a:t>
            </a:r>
            <a:endParaRPr lang="en-US" sz="1350" dirty="0"/>
          </a:p>
        </p:txBody>
      </p:sp>
      <p:sp>
        <p:nvSpPr>
          <p:cNvPr id="9" name="Text 7"/>
          <p:cNvSpPr/>
          <p:nvPr/>
        </p:nvSpPr>
        <p:spPr>
          <a:xfrm>
            <a:off x="956930" y="3813048"/>
            <a:ext cx="5809630" cy="576072"/>
          </a:xfrm>
          <a:prstGeom prst="rect">
            <a:avLst/>
          </a:prstGeom>
          <a:noFill/>
          <a:ln/>
        </p:spPr>
        <p:txBody>
          <a:bodyPr wrap="square" rtlCol="0" anchor="ctr"/>
          <a:lstStyle/>
          <a:p>
            <a:pPr marL="0" indent="0">
              <a:buNone/>
            </a:pPr>
            <a:r>
              <a:rPr lang="en-US" sz="1400" dirty="0">
                <a:solidFill>
                  <a:srgbClr val="3A3A3A"/>
                </a:solidFill>
                <a:latin typeface="Times New Roman" panose="02020603050405020304" pitchFamily="18" charset="0"/>
                <a:ea typeface="Calibri" pitchFamily="34" charset="-122"/>
                <a:cs typeface="Times New Roman" panose="02020603050405020304" pitchFamily="18" charset="0"/>
              </a:rPr>
              <a:t>  Extract product data from Flipkart using Requests + BeautifulSoup</a:t>
            </a:r>
            <a:endParaRPr lang="en-US" sz="1400" dirty="0">
              <a:latin typeface="Times New Roman" panose="02020603050405020304" pitchFamily="18" charset="0"/>
              <a:cs typeface="Times New Roman" panose="02020603050405020304" pitchFamily="18" charset="0"/>
            </a:endParaRPr>
          </a:p>
        </p:txBody>
      </p:sp>
      <p:sp>
        <p:nvSpPr>
          <p:cNvPr id="10" name="Text 8"/>
          <p:cNvSpPr/>
          <p:nvPr/>
        </p:nvSpPr>
        <p:spPr>
          <a:xfrm>
            <a:off x="822960" y="4462272"/>
            <a:ext cx="228600" cy="365760"/>
          </a:xfrm>
          <a:prstGeom prst="rect">
            <a:avLst/>
          </a:prstGeom>
          <a:noFill/>
          <a:ln/>
        </p:spPr>
        <p:txBody>
          <a:bodyPr wrap="square" rtlCol="0" anchor="ctr"/>
          <a:lstStyle/>
          <a:p>
            <a:pPr marL="0" indent="0">
              <a:buNone/>
            </a:pPr>
            <a:r>
              <a:rPr lang="en-US" sz="1350" b="1" dirty="0">
                <a:solidFill>
                  <a:srgbClr val="C8102E"/>
                </a:solidFill>
                <a:latin typeface="Calibri" pitchFamily="34" charset="0"/>
                <a:ea typeface="Calibri" pitchFamily="34" charset="-122"/>
                <a:cs typeface="Calibri" pitchFamily="34" charset="-120"/>
              </a:rPr>
              <a:t>•</a:t>
            </a:r>
            <a:endParaRPr lang="en-US" sz="1350" dirty="0"/>
          </a:p>
        </p:txBody>
      </p:sp>
      <p:sp>
        <p:nvSpPr>
          <p:cNvPr id="11" name="Text 9"/>
          <p:cNvSpPr/>
          <p:nvPr/>
        </p:nvSpPr>
        <p:spPr>
          <a:xfrm>
            <a:off x="1051560" y="4343400"/>
            <a:ext cx="5715000" cy="576072"/>
          </a:xfrm>
          <a:prstGeom prst="rect">
            <a:avLst/>
          </a:prstGeom>
          <a:noFill/>
          <a:ln/>
        </p:spPr>
        <p:txBody>
          <a:bodyPr wrap="square" rtlCol="0" anchor="ctr"/>
          <a:lstStyle/>
          <a:p>
            <a:pPr marL="0" indent="0">
              <a:buNone/>
            </a:pPr>
            <a:r>
              <a:rPr lang="en-US" sz="1400" dirty="0">
                <a:solidFill>
                  <a:srgbClr val="3A3A3A"/>
                </a:solidFill>
                <a:latin typeface="Times New Roman" panose="02020603050405020304" pitchFamily="18" charset="0"/>
                <a:ea typeface="Calibri" pitchFamily="34" charset="-122"/>
                <a:cs typeface="Times New Roman" panose="02020603050405020304" pitchFamily="18" charset="0"/>
              </a:rPr>
              <a:t>Clean &amp; structure raw text fields into usable numeric/categorical data</a:t>
            </a:r>
            <a:endParaRPr lang="en-US" sz="1400" dirty="0">
              <a:latin typeface="Times New Roman" panose="02020603050405020304" pitchFamily="18" charset="0"/>
              <a:cs typeface="Times New Roman" panose="02020603050405020304" pitchFamily="18" charset="0"/>
            </a:endParaRPr>
          </a:p>
        </p:txBody>
      </p:sp>
      <p:sp>
        <p:nvSpPr>
          <p:cNvPr id="12" name="Text 10"/>
          <p:cNvSpPr/>
          <p:nvPr/>
        </p:nvSpPr>
        <p:spPr>
          <a:xfrm>
            <a:off x="822960" y="4992624"/>
            <a:ext cx="228600" cy="365760"/>
          </a:xfrm>
          <a:prstGeom prst="rect">
            <a:avLst/>
          </a:prstGeom>
          <a:noFill/>
          <a:ln/>
        </p:spPr>
        <p:txBody>
          <a:bodyPr wrap="square" rtlCol="0" anchor="ctr"/>
          <a:lstStyle/>
          <a:p>
            <a:pPr marL="0" indent="0">
              <a:buNone/>
            </a:pPr>
            <a:r>
              <a:rPr lang="en-US" sz="1350" b="1" dirty="0">
                <a:solidFill>
                  <a:srgbClr val="C8102E"/>
                </a:solidFill>
                <a:latin typeface="Calibri" pitchFamily="34" charset="0"/>
                <a:ea typeface="Calibri" pitchFamily="34" charset="-122"/>
                <a:cs typeface="Calibri" pitchFamily="34" charset="-120"/>
              </a:rPr>
              <a:t>•</a:t>
            </a:r>
            <a:endParaRPr lang="en-US" sz="1350" dirty="0"/>
          </a:p>
        </p:txBody>
      </p:sp>
      <p:sp>
        <p:nvSpPr>
          <p:cNvPr id="13" name="Text 11"/>
          <p:cNvSpPr/>
          <p:nvPr/>
        </p:nvSpPr>
        <p:spPr>
          <a:xfrm>
            <a:off x="1097280" y="4846320"/>
            <a:ext cx="5669280" cy="603504"/>
          </a:xfrm>
          <a:prstGeom prst="rect">
            <a:avLst/>
          </a:prstGeom>
          <a:noFill/>
          <a:ln/>
        </p:spPr>
        <p:txBody>
          <a:bodyPr wrap="square" rtlCol="0" anchor="ctr"/>
          <a:lstStyle/>
          <a:p>
            <a:pPr marL="0" indent="0">
              <a:buNone/>
            </a:pPr>
            <a:r>
              <a:rPr lang="en-US" sz="1400" dirty="0">
                <a:solidFill>
                  <a:srgbClr val="3A3A3A"/>
                </a:solidFill>
                <a:latin typeface="Calibri" pitchFamily="34" charset="0"/>
                <a:ea typeface="Calibri" pitchFamily="34" charset="-122"/>
                <a:cs typeface="Calibri" pitchFamily="34" charset="-120"/>
              </a:rPr>
              <a:t>Perform univariate, bivariate &amp; multivariate EDA</a:t>
            </a:r>
            <a:endParaRPr lang="en-US" sz="1400" dirty="0"/>
          </a:p>
        </p:txBody>
      </p:sp>
      <p:sp>
        <p:nvSpPr>
          <p:cNvPr id="14" name="Text 12"/>
          <p:cNvSpPr/>
          <p:nvPr/>
        </p:nvSpPr>
        <p:spPr>
          <a:xfrm>
            <a:off x="822960" y="5522976"/>
            <a:ext cx="228600" cy="365760"/>
          </a:xfrm>
          <a:prstGeom prst="rect">
            <a:avLst/>
          </a:prstGeom>
          <a:noFill/>
          <a:ln/>
        </p:spPr>
        <p:txBody>
          <a:bodyPr wrap="square" rtlCol="0" anchor="ctr"/>
          <a:lstStyle/>
          <a:p>
            <a:pPr marL="0" indent="0">
              <a:buNone/>
            </a:pPr>
            <a:r>
              <a:rPr lang="en-US" sz="1350" b="1" dirty="0">
                <a:solidFill>
                  <a:srgbClr val="C8102E"/>
                </a:solidFill>
                <a:latin typeface="Calibri" pitchFamily="34" charset="0"/>
                <a:ea typeface="Calibri" pitchFamily="34" charset="-122"/>
                <a:cs typeface="Calibri" pitchFamily="34" charset="-120"/>
              </a:rPr>
              <a:t>•</a:t>
            </a:r>
            <a:endParaRPr lang="en-US" sz="1350" dirty="0"/>
          </a:p>
        </p:txBody>
      </p:sp>
      <p:sp>
        <p:nvSpPr>
          <p:cNvPr id="15" name="Text 13"/>
          <p:cNvSpPr/>
          <p:nvPr/>
        </p:nvSpPr>
        <p:spPr>
          <a:xfrm>
            <a:off x="1051560" y="5422392"/>
            <a:ext cx="5715000" cy="553212"/>
          </a:xfrm>
          <a:prstGeom prst="rect">
            <a:avLst/>
          </a:prstGeom>
          <a:noFill/>
          <a:ln/>
        </p:spPr>
        <p:txBody>
          <a:bodyPr wrap="square" rtlCol="0" anchor="ctr"/>
          <a:lstStyle/>
          <a:p>
            <a:pPr marL="0" indent="0">
              <a:buNone/>
            </a:pPr>
            <a:r>
              <a:rPr lang="en-US" sz="1400" dirty="0">
                <a:solidFill>
                  <a:srgbClr val="3A3A3A"/>
                </a:solidFill>
                <a:latin typeface="Calibri" pitchFamily="34" charset="0"/>
                <a:ea typeface="Calibri" pitchFamily="34" charset="-122"/>
                <a:cs typeface="Calibri" pitchFamily="34" charset="-120"/>
              </a:rPr>
              <a:t>Answer key business questions and derive actionable insights</a:t>
            </a:r>
            <a:endParaRPr lang="en-US" sz="1400" dirty="0"/>
          </a:p>
        </p:txBody>
      </p:sp>
      <p:sp>
        <p:nvSpPr>
          <p:cNvPr id="18" name="Text 16"/>
          <p:cNvSpPr/>
          <p:nvPr/>
        </p:nvSpPr>
        <p:spPr>
          <a:xfrm>
            <a:off x="7589520" y="2514600"/>
            <a:ext cx="3794760" cy="548640"/>
          </a:xfrm>
          <a:prstGeom prst="rect">
            <a:avLst/>
          </a:prstGeom>
          <a:noFill/>
          <a:ln/>
        </p:spPr>
        <p:txBody>
          <a:bodyPr wrap="square" rtlCol="0" anchor="ctr"/>
          <a:lstStyle/>
          <a:p>
            <a:pPr marL="0" indent="0" algn="ctr">
              <a:buNone/>
            </a:pPr>
            <a:r>
              <a:rPr lang="en-US" dirty="0">
                <a:solidFill>
                  <a:srgbClr val="FFFFFF"/>
                </a:solidFill>
                <a:latin typeface="Calibri" pitchFamily="34" charset="0"/>
                <a:ea typeface="Calibri" pitchFamily="34" charset="-122"/>
                <a:cs typeface="Calibri" pitchFamily="34" charset="-120"/>
              </a:rPr>
              <a:t>Laptop listings scraped &amp; analyzed</a:t>
            </a:r>
            <a:endParaRPr lang="en-US" dirty="0"/>
          </a:p>
        </p:txBody>
      </p:sp>
      <p:sp>
        <p:nvSpPr>
          <p:cNvPr id="20" name="Text 18"/>
          <p:cNvSpPr/>
          <p:nvPr/>
        </p:nvSpPr>
        <p:spPr>
          <a:xfrm>
            <a:off x="7315200" y="3977640"/>
            <a:ext cx="4343400" cy="914400"/>
          </a:xfrm>
          <a:prstGeom prst="rect">
            <a:avLst/>
          </a:prstGeom>
          <a:noFill/>
          <a:ln/>
        </p:spPr>
        <p:txBody>
          <a:bodyPr wrap="square" rtlCol="0" anchor="ctr"/>
          <a:lstStyle/>
          <a:p>
            <a:pPr marL="0" indent="0" algn="ctr">
              <a:buNone/>
            </a:pPr>
            <a:r>
              <a:rPr lang="en-US" sz="4800" b="1" dirty="0">
                <a:solidFill>
                  <a:srgbClr val="FFFFFF"/>
                </a:solidFill>
                <a:latin typeface="Cambria" pitchFamily="34" charset="0"/>
                <a:ea typeface="Cambria" pitchFamily="34" charset="-122"/>
              </a:rPr>
              <a:t>10</a:t>
            </a:r>
            <a:endParaRPr lang="en-US" sz="4800" dirty="0"/>
          </a:p>
        </p:txBody>
      </p:sp>
      <p:sp>
        <p:nvSpPr>
          <p:cNvPr id="21" name="Text 19"/>
          <p:cNvSpPr/>
          <p:nvPr/>
        </p:nvSpPr>
        <p:spPr>
          <a:xfrm>
            <a:off x="7589520" y="4892040"/>
            <a:ext cx="3794760" cy="1005840"/>
          </a:xfrm>
          <a:prstGeom prst="rect">
            <a:avLst/>
          </a:prstGeom>
          <a:noFill/>
          <a:ln/>
        </p:spPr>
        <p:txBody>
          <a:bodyPr wrap="square" rtlCol="0" anchor="ctr"/>
          <a:lstStyle/>
          <a:p>
            <a:pPr marL="0" indent="0" algn="ctr">
              <a:buNone/>
            </a:pPr>
            <a:r>
              <a:rPr lang="en-US" dirty="0">
                <a:solidFill>
                  <a:srgbClr val="FFFFFF"/>
                </a:solidFill>
                <a:latin typeface="Calibri" pitchFamily="34" charset="0"/>
                <a:ea typeface="Calibri" pitchFamily="34" charset="-122"/>
                <a:cs typeface="Calibri" pitchFamily="34" charset="-120"/>
              </a:rPr>
              <a:t>Brands compared across Budget, Mid-Range &amp; Premium segments</a:t>
            </a:r>
            <a:endParaRPr lang="en-US" dirty="0"/>
          </a:p>
        </p:txBody>
      </p:sp>
      <p:sp>
        <p:nvSpPr>
          <p:cNvPr id="22" name="Text 20"/>
          <p:cNvSpPr/>
          <p:nvPr/>
        </p:nvSpPr>
        <p:spPr>
          <a:xfrm>
            <a:off x="457200" y="6537960"/>
            <a:ext cx="5486400" cy="274320"/>
          </a:xfrm>
          <a:prstGeom prst="rect">
            <a:avLst/>
          </a:prstGeom>
          <a:noFill/>
          <a:ln/>
        </p:spPr>
        <p:txBody>
          <a:bodyPr wrap="square"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INNOMATICS RESEARCH LABS</a:t>
            </a:r>
            <a:endParaRPr lang="en-US" sz="900" dirty="0"/>
          </a:p>
        </p:txBody>
      </p:sp>
      <p:sp>
        <p:nvSpPr>
          <p:cNvPr id="23" name="Text 21"/>
          <p:cNvSpPr/>
          <p:nvPr/>
        </p:nvSpPr>
        <p:spPr>
          <a:xfrm>
            <a:off x="11274552" y="6537960"/>
            <a:ext cx="45720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4</a:t>
            </a:r>
            <a:endParaRPr lang="en-US" sz="900" dirty="0"/>
          </a:p>
        </p:txBody>
      </p:sp>
      <p:sp>
        <p:nvSpPr>
          <p:cNvPr id="24" name="TextBox 23">
            <a:extLst>
              <a:ext uri="{FF2B5EF4-FFF2-40B4-BE49-F238E27FC236}">
                <a16:creationId xmlns:a16="http://schemas.microsoft.com/office/drawing/2014/main" id="{65FE77D4-290E-3445-DD97-7B95CFB0882B}"/>
              </a:ext>
            </a:extLst>
          </p:cNvPr>
          <p:cNvSpPr txBox="1"/>
          <p:nvPr/>
        </p:nvSpPr>
        <p:spPr>
          <a:xfrm>
            <a:off x="807720" y="1621703"/>
            <a:ext cx="7889966" cy="2031325"/>
          </a:xfrm>
          <a:prstGeom prst="rect">
            <a:avLst/>
          </a:prstGeom>
          <a:noFill/>
        </p:spPr>
        <p:txBody>
          <a:bodyPr wrap="square" rtlCol="0">
            <a:spAutoFit/>
          </a:bodyPr>
          <a:lstStyle/>
          <a:p>
            <a:r>
              <a:rPr lang="en-IN" b="1" dirty="0">
                <a:solidFill>
                  <a:srgbClr val="FF0000"/>
                </a:solidFill>
              </a:rPr>
              <a:t>Project Objectives:</a:t>
            </a:r>
          </a:p>
          <a:p>
            <a:endParaRPr lang="en-IN" dirty="0">
              <a:solidFill>
                <a:srgbClr val="FF0000"/>
              </a:solidFill>
            </a:endParaRPr>
          </a:p>
          <a:p>
            <a:pPr marL="285750" indent="-285750">
              <a:buFont typeface="Arial" panose="020B0604020202020204" pitchFamily="34" charset="0"/>
              <a:buChar char="•"/>
            </a:pPr>
            <a:r>
              <a:rPr lang="en-IN" dirty="0">
                <a:solidFill>
                  <a:schemeClr val="tx1">
                    <a:lumMod val="65000"/>
                    <a:lumOff val="35000"/>
                  </a:schemeClr>
                </a:solidFill>
                <a:latin typeface="Times New Roman" panose="02020603050405020304" pitchFamily="18" charset="0"/>
                <a:cs typeface="Times New Roman" panose="02020603050405020304" pitchFamily="18" charset="0"/>
              </a:rPr>
              <a:t>Scrape laptop data from Flipkart using Python. </a:t>
            </a:r>
          </a:p>
          <a:p>
            <a:pPr marL="285750" indent="-285750">
              <a:buFont typeface="Arial" panose="020B0604020202020204" pitchFamily="34" charset="0"/>
              <a:buChar char="•"/>
            </a:pPr>
            <a:r>
              <a:rPr lang="en-IN" dirty="0">
                <a:solidFill>
                  <a:schemeClr val="tx1">
                    <a:lumMod val="65000"/>
                    <a:lumOff val="35000"/>
                  </a:schemeClr>
                </a:solidFill>
                <a:latin typeface="Times New Roman" panose="02020603050405020304" pitchFamily="18" charset="0"/>
                <a:cs typeface="Times New Roman" panose="02020603050405020304" pitchFamily="18" charset="0"/>
              </a:rPr>
              <a:t>Clean and preprocess the collected dataset. </a:t>
            </a:r>
          </a:p>
          <a:p>
            <a:pPr marL="285750" indent="-285750">
              <a:buFont typeface="Arial" panose="020B0604020202020204" pitchFamily="34" charset="0"/>
              <a:buChar char="•"/>
            </a:pPr>
            <a:r>
              <a:rPr lang="en-IN" dirty="0">
                <a:solidFill>
                  <a:schemeClr val="tx1">
                    <a:lumMod val="65000"/>
                    <a:lumOff val="35000"/>
                  </a:schemeClr>
                </a:solidFill>
                <a:latin typeface="Times New Roman" panose="02020603050405020304" pitchFamily="18" charset="0"/>
                <a:cs typeface="Times New Roman" panose="02020603050405020304" pitchFamily="18" charset="0"/>
              </a:rPr>
              <a:t>Perform Exploratory Data Analysis (EDA) to identify patterns and trends. </a:t>
            </a:r>
          </a:p>
          <a:p>
            <a:pPr marL="285750" indent="-285750">
              <a:buFont typeface="Arial" panose="020B0604020202020204" pitchFamily="34" charset="0"/>
              <a:buChar char="•"/>
            </a:pPr>
            <a:r>
              <a:rPr lang="en-IN" dirty="0">
                <a:solidFill>
                  <a:schemeClr val="tx1">
                    <a:lumMod val="65000"/>
                    <a:lumOff val="35000"/>
                  </a:schemeClr>
                </a:solidFill>
                <a:latin typeface="Times New Roman" panose="02020603050405020304" pitchFamily="18" charset="0"/>
                <a:cs typeface="Times New Roman" panose="02020603050405020304" pitchFamily="18" charset="0"/>
              </a:rPr>
              <a:t>Analyse price, ratings, RAM, storage, processor, and brand performance</a:t>
            </a:r>
          </a:p>
          <a:p>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300" b="1" kern="0" spc="200" dirty="0">
                <a:solidFill>
                  <a:srgbClr val="C8102E"/>
                </a:solidFill>
                <a:latin typeface="Calibri" pitchFamily="34" charset="0"/>
                <a:ea typeface="Calibri" pitchFamily="34" charset="-122"/>
                <a:cs typeface="Calibri" pitchFamily="34" charset="-120"/>
              </a:rPr>
              <a:t>DATA COLLECTION</a:t>
            </a:r>
            <a:endParaRPr lang="en-US" sz="1300" dirty="0"/>
          </a:p>
        </p:txBody>
      </p:sp>
      <p:sp>
        <p:nvSpPr>
          <p:cNvPr id="3" name="Text 1"/>
          <p:cNvSpPr/>
          <p:nvPr/>
        </p:nvSpPr>
        <p:spPr>
          <a:xfrm>
            <a:off x="548640" y="621792"/>
            <a:ext cx="10515600" cy="731520"/>
          </a:xfrm>
          <a:prstGeom prst="rect">
            <a:avLst/>
          </a:prstGeom>
          <a:noFill/>
          <a:ln/>
        </p:spPr>
        <p:txBody>
          <a:bodyPr wrap="square"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Dataset Overview</a:t>
            </a:r>
            <a:endParaRPr lang="en-US" sz="3000" dirty="0"/>
          </a:p>
        </p:txBody>
      </p:sp>
      <p:sp>
        <p:nvSpPr>
          <p:cNvPr id="4" name="Text 2"/>
          <p:cNvSpPr/>
          <p:nvPr/>
        </p:nvSpPr>
        <p:spPr>
          <a:xfrm>
            <a:off x="548640" y="1417320"/>
            <a:ext cx="3291840" cy="365760"/>
          </a:xfrm>
          <a:prstGeom prst="rect">
            <a:avLst/>
          </a:prstGeom>
          <a:noFill/>
          <a:ln/>
        </p:spPr>
        <p:txBody>
          <a:bodyPr wrap="square" rtlCol="0" anchor="ctr"/>
          <a:lstStyle/>
          <a:p>
            <a:pPr marL="0" indent="0">
              <a:buNone/>
            </a:pPr>
            <a:r>
              <a:rPr lang="en-US" sz="1500" b="1" dirty="0">
                <a:solidFill>
                  <a:srgbClr val="C8102E"/>
                </a:solidFill>
                <a:latin typeface="Calibri" pitchFamily="34" charset="0"/>
                <a:ea typeface="Calibri" pitchFamily="34" charset="-122"/>
                <a:cs typeface="Calibri" pitchFamily="34" charset="-120"/>
              </a:rPr>
              <a:t>Source</a:t>
            </a:r>
            <a:endParaRPr lang="en-US" sz="1500" dirty="0"/>
          </a:p>
        </p:txBody>
      </p:sp>
      <p:sp>
        <p:nvSpPr>
          <p:cNvPr id="5" name="Text 3"/>
          <p:cNvSpPr/>
          <p:nvPr/>
        </p:nvSpPr>
        <p:spPr>
          <a:xfrm>
            <a:off x="548640" y="1783080"/>
            <a:ext cx="3383280" cy="1188720"/>
          </a:xfrm>
          <a:prstGeom prst="rect">
            <a:avLst/>
          </a:prstGeom>
          <a:noFill/>
          <a:ln/>
        </p:spPr>
        <p:txBody>
          <a:bodyPr wrap="square" rtlCol="0" anchor="ctr"/>
          <a:lstStyle/>
          <a:p>
            <a:pPr marL="0" indent="0" algn="just">
              <a:buNone/>
            </a:pPr>
            <a:r>
              <a:rPr lang="en-US" sz="1400" dirty="0">
                <a:solidFill>
                  <a:srgbClr val="3A3A3A"/>
                </a:solidFill>
                <a:latin typeface="Times New Roman" panose="02020603050405020304" pitchFamily="18" charset="0"/>
                <a:ea typeface="Calibri" pitchFamily="34" charset="-122"/>
                <a:cs typeface="Times New Roman" panose="02020603050405020304" pitchFamily="18" charset="0"/>
              </a:rPr>
              <a:t>Flipkart.com search results for "laptops", scraped across 95 result pages using Python (requests + BeautifulSoup)</a:t>
            </a:r>
            <a:endParaRPr lang="en-US" sz="1400" dirty="0">
              <a:latin typeface="Times New Roman" panose="02020603050405020304" pitchFamily="18" charset="0"/>
              <a:cs typeface="Times New Roman" panose="02020603050405020304" pitchFamily="18" charset="0"/>
            </a:endParaRPr>
          </a:p>
        </p:txBody>
      </p:sp>
      <p:sp>
        <p:nvSpPr>
          <p:cNvPr id="6" name="Text 4"/>
          <p:cNvSpPr/>
          <p:nvPr/>
        </p:nvSpPr>
        <p:spPr>
          <a:xfrm>
            <a:off x="548640" y="3017520"/>
            <a:ext cx="3383280" cy="365760"/>
          </a:xfrm>
          <a:prstGeom prst="rect">
            <a:avLst/>
          </a:prstGeom>
          <a:noFill/>
          <a:ln/>
        </p:spPr>
        <p:txBody>
          <a:bodyPr wrap="square" rtlCol="0" anchor="ctr"/>
          <a:lstStyle/>
          <a:p>
            <a:pPr marL="0" indent="0">
              <a:buNone/>
            </a:pPr>
            <a:r>
              <a:rPr lang="en-US" sz="1500" b="1" dirty="0">
                <a:solidFill>
                  <a:srgbClr val="C8102E"/>
                </a:solidFill>
                <a:latin typeface="Calibri" pitchFamily="34" charset="0"/>
                <a:ea typeface="Calibri" pitchFamily="34" charset="-122"/>
                <a:cs typeface="Calibri" pitchFamily="34" charset="-120"/>
              </a:rPr>
              <a:t>Raw Fields Collected</a:t>
            </a:r>
            <a:endParaRPr lang="en-US" sz="1500" dirty="0"/>
          </a:p>
        </p:txBody>
      </p:sp>
      <p:sp>
        <p:nvSpPr>
          <p:cNvPr id="7" name="Text 5"/>
          <p:cNvSpPr/>
          <p:nvPr/>
        </p:nvSpPr>
        <p:spPr>
          <a:xfrm>
            <a:off x="548640" y="3383280"/>
            <a:ext cx="3383280" cy="2651760"/>
          </a:xfrm>
          <a:prstGeom prst="rect">
            <a:avLst/>
          </a:prstGeom>
          <a:noFill/>
          <a:ln/>
        </p:spPr>
        <p:txBody>
          <a:bodyPr wrap="square" rtlCol="0" anchor="ctr"/>
          <a:lstStyle/>
          <a:p>
            <a:pPr marL="342900" indent="-342900">
              <a:spcAft>
                <a:spcPts val="400"/>
              </a:spcAft>
              <a:buSzPct val="100000"/>
              <a:buChar char="•"/>
            </a:pPr>
            <a:r>
              <a:rPr lang="en-US" sz="1400" dirty="0">
                <a:solidFill>
                  <a:srgbClr val="3A3A3A"/>
                </a:solidFill>
                <a:latin typeface="Times New Roman" panose="02020603050405020304" pitchFamily="18" charset="0"/>
                <a:ea typeface="Calibri" pitchFamily="34" charset="-122"/>
                <a:cs typeface="Times New Roman" panose="02020603050405020304" pitchFamily="18" charset="0"/>
              </a:rPr>
              <a:t>Product Name</a:t>
            </a:r>
            <a:endParaRPr lang="en-US" sz="1400" dirty="0">
              <a:latin typeface="Times New Roman" panose="02020603050405020304" pitchFamily="18" charset="0"/>
              <a:cs typeface="Times New Roman" panose="02020603050405020304" pitchFamily="18" charset="0"/>
            </a:endParaRPr>
          </a:p>
          <a:p>
            <a:pPr marL="342900" indent="-342900">
              <a:spcAft>
                <a:spcPts val="400"/>
              </a:spcAft>
              <a:buSzPct val="100000"/>
              <a:buChar char="•"/>
            </a:pPr>
            <a:r>
              <a:rPr lang="en-US" sz="1400" dirty="0">
                <a:solidFill>
                  <a:srgbClr val="3A3A3A"/>
                </a:solidFill>
                <a:latin typeface="Times New Roman" panose="02020603050405020304" pitchFamily="18" charset="0"/>
                <a:ea typeface="Calibri" pitchFamily="34" charset="-122"/>
                <a:cs typeface="Times New Roman" panose="02020603050405020304" pitchFamily="18" charset="0"/>
              </a:rPr>
              <a:t>Brand</a:t>
            </a:r>
            <a:endParaRPr lang="en-US" sz="1400" dirty="0">
              <a:latin typeface="Times New Roman" panose="02020603050405020304" pitchFamily="18" charset="0"/>
              <a:cs typeface="Times New Roman" panose="02020603050405020304" pitchFamily="18" charset="0"/>
            </a:endParaRPr>
          </a:p>
          <a:p>
            <a:pPr marL="342900" indent="-342900">
              <a:spcAft>
                <a:spcPts val="400"/>
              </a:spcAft>
              <a:buSzPct val="100000"/>
              <a:buChar char="•"/>
            </a:pPr>
            <a:r>
              <a:rPr lang="en-US" sz="1400" dirty="0">
                <a:solidFill>
                  <a:srgbClr val="3A3A3A"/>
                </a:solidFill>
                <a:latin typeface="Times New Roman" panose="02020603050405020304" pitchFamily="18" charset="0"/>
                <a:ea typeface="Calibri" pitchFamily="34" charset="-122"/>
                <a:cs typeface="Times New Roman" panose="02020603050405020304" pitchFamily="18" charset="0"/>
              </a:rPr>
              <a:t>Processor</a:t>
            </a:r>
            <a:endParaRPr lang="en-US" sz="1400" dirty="0">
              <a:latin typeface="Times New Roman" panose="02020603050405020304" pitchFamily="18" charset="0"/>
              <a:cs typeface="Times New Roman" panose="02020603050405020304" pitchFamily="18" charset="0"/>
            </a:endParaRPr>
          </a:p>
          <a:p>
            <a:pPr marL="342900" indent="-342900">
              <a:spcAft>
                <a:spcPts val="400"/>
              </a:spcAft>
              <a:buSzPct val="100000"/>
              <a:buChar char="•"/>
            </a:pPr>
            <a:r>
              <a:rPr lang="en-US" sz="1400" dirty="0">
                <a:solidFill>
                  <a:srgbClr val="3A3A3A"/>
                </a:solidFill>
                <a:latin typeface="Times New Roman" panose="02020603050405020304" pitchFamily="18" charset="0"/>
                <a:ea typeface="Calibri" pitchFamily="34" charset="-122"/>
                <a:cs typeface="Times New Roman" panose="02020603050405020304" pitchFamily="18" charset="0"/>
              </a:rPr>
              <a:t>RAM</a:t>
            </a:r>
            <a:endParaRPr lang="en-US" sz="1400" dirty="0">
              <a:latin typeface="Times New Roman" panose="02020603050405020304" pitchFamily="18" charset="0"/>
              <a:cs typeface="Times New Roman" panose="02020603050405020304" pitchFamily="18" charset="0"/>
            </a:endParaRPr>
          </a:p>
          <a:p>
            <a:pPr marL="342900" indent="-342900">
              <a:spcAft>
                <a:spcPts val="400"/>
              </a:spcAft>
              <a:buSzPct val="100000"/>
              <a:buChar char="•"/>
            </a:pPr>
            <a:r>
              <a:rPr lang="en-US" sz="1400" dirty="0">
                <a:solidFill>
                  <a:srgbClr val="3A3A3A"/>
                </a:solidFill>
                <a:latin typeface="Times New Roman" panose="02020603050405020304" pitchFamily="18" charset="0"/>
                <a:ea typeface="Calibri" pitchFamily="34" charset="-122"/>
                <a:cs typeface="Times New Roman" panose="02020603050405020304" pitchFamily="18" charset="0"/>
              </a:rPr>
              <a:t>SSD</a:t>
            </a:r>
            <a:endParaRPr lang="en-US" sz="1400" dirty="0">
              <a:latin typeface="Times New Roman" panose="02020603050405020304" pitchFamily="18" charset="0"/>
              <a:cs typeface="Times New Roman" panose="02020603050405020304" pitchFamily="18" charset="0"/>
            </a:endParaRPr>
          </a:p>
          <a:p>
            <a:pPr marL="342900" indent="-342900">
              <a:spcAft>
                <a:spcPts val="400"/>
              </a:spcAft>
              <a:buSzPct val="100000"/>
              <a:buChar char="•"/>
            </a:pPr>
            <a:r>
              <a:rPr lang="en-US" sz="1400" dirty="0">
                <a:solidFill>
                  <a:srgbClr val="3A3A3A"/>
                </a:solidFill>
                <a:latin typeface="Times New Roman" panose="02020603050405020304" pitchFamily="18" charset="0"/>
                <a:ea typeface="Calibri" pitchFamily="34" charset="-122"/>
                <a:cs typeface="Times New Roman" panose="02020603050405020304" pitchFamily="18" charset="0"/>
              </a:rPr>
              <a:t>Display Size</a:t>
            </a:r>
            <a:endParaRPr lang="en-US" sz="1400" dirty="0">
              <a:latin typeface="Times New Roman" panose="02020603050405020304" pitchFamily="18" charset="0"/>
              <a:cs typeface="Times New Roman" panose="02020603050405020304" pitchFamily="18" charset="0"/>
            </a:endParaRPr>
          </a:p>
          <a:p>
            <a:pPr marL="342900" indent="-342900">
              <a:spcAft>
                <a:spcPts val="400"/>
              </a:spcAft>
              <a:buSzPct val="100000"/>
              <a:buChar char="•"/>
            </a:pPr>
            <a:r>
              <a:rPr lang="en-US" sz="1400" dirty="0">
                <a:solidFill>
                  <a:srgbClr val="3A3A3A"/>
                </a:solidFill>
                <a:latin typeface="Times New Roman" panose="02020603050405020304" pitchFamily="18" charset="0"/>
                <a:ea typeface="Calibri" pitchFamily="34" charset="-122"/>
                <a:cs typeface="Times New Roman" panose="02020603050405020304" pitchFamily="18" charset="0"/>
              </a:rPr>
              <a:t>Price</a:t>
            </a:r>
            <a:endParaRPr lang="en-US" sz="1400" dirty="0">
              <a:latin typeface="Times New Roman" panose="02020603050405020304" pitchFamily="18" charset="0"/>
              <a:cs typeface="Times New Roman" panose="02020603050405020304" pitchFamily="18" charset="0"/>
            </a:endParaRPr>
          </a:p>
          <a:p>
            <a:pPr marL="342900" indent="-342900">
              <a:spcAft>
                <a:spcPts val="400"/>
              </a:spcAft>
              <a:buSzPct val="100000"/>
              <a:buChar char="•"/>
            </a:pPr>
            <a:r>
              <a:rPr lang="en-US" sz="1400" dirty="0">
                <a:solidFill>
                  <a:srgbClr val="3A3A3A"/>
                </a:solidFill>
                <a:latin typeface="Times New Roman" panose="02020603050405020304" pitchFamily="18" charset="0"/>
                <a:ea typeface="Calibri" pitchFamily="34" charset="-122"/>
                <a:cs typeface="Times New Roman" panose="02020603050405020304" pitchFamily="18" charset="0"/>
              </a:rPr>
              <a:t>Discount %</a:t>
            </a:r>
            <a:endParaRPr lang="en-US" sz="1400" dirty="0">
              <a:latin typeface="Times New Roman" panose="02020603050405020304" pitchFamily="18" charset="0"/>
              <a:cs typeface="Times New Roman" panose="02020603050405020304" pitchFamily="18" charset="0"/>
            </a:endParaRPr>
          </a:p>
          <a:p>
            <a:pPr marL="342900" indent="-342900">
              <a:spcAft>
                <a:spcPts val="400"/>
              </a:spcAft>
              <a:buSzPct val="100000"/>
              <a:buChar char="•"/>
            </a:pPr>
            <a:r>
              <a:rPr lang="en-US" sz="1400" dirty="0">
                <a:solidFill>
                  <a:srgbClr val="3A3A3A"/>
                </a:solidFill>
                <a:latin typeface="Times New Roman" panose="02020603050405020304" pitchFamily="18" charset="0"/>
                <a:ea typeface="Calibri" pitchFamily="34" charset="-122"/>
                <a:cs typeface="Times New Roman" panose="02020603050405020304" pitchFamily="18" charset="0"/>
              </a:rPr>
              <a:t>Rating</a:t>
            </a:r>
            <a:endParaRPr lang="en-US" sz="1400" dirty="0">
              <a:latin typeface="Times New Roman" panose="02020603050405020304" pitchFamily="18" charset="0"/>
              <a:cs typeface="Times New Roman" panose="02020603050405020304" pitchFamily="18" charset="0"/>
            </a:endParaRPr>
          </a:p>
        </p:txBody>
      </p:sp>
      <p:sp>
        <p:nvSpPr>
          <p:cNvPr id="8" name="Text 6"/>
          <p:cNvSpPr/>
          <p:nvPr/>
        </p:nvSpPr>
        <p:spPr>
          <a:xfrm>
            <a:off x="4297680" y="1417320"/>
            <a:ext cx="7315200" cy="365760"/>
          </a:xfrm>
          <a:prstGeom prst="rect">
            <a:avLst/>
          </a:prstGeom>
          <a:noFill/>
          <a:ln/>
        </p:spPr>
        <p:txBody>
          <a:bodyPr wrap="square" rtlCol="0" anchor="ctr"/>
          <a:lstStyle/>
          <a:p>
            <a:pPr marL="0" indent="0">
              <a:buNone/>
            </a:pPr>
            <a:r>
              <a:rPr lang="en-US" sz="1500" b="1" dirty="0">
                <a:solidFill>
                  <a:srgbClr val="C8102E"/>
                </a:solidFill>
                <a:latin typeface="Calibri" pitchFamily="34" charset="0"/>
                <a:ea typeface="Calibri" pitchFamily="34" charset="-122"/>
                <a:cs typeface="Calibri" pitchFamily="34" charset="-120"/>
              </a:rPr>
              <a:t>Raw vs. Cleaned Dataset</a:t>
            </a:r>
            <a:endParaRPr lang="en-US" sz="1500" dirty="0"/>
          </a:p>
        </p:txBody>
      </p:sp>
      <p:graphicFrame>
        <p:nvGraphicFramePr>
          <p:cNvPr id="9" name="Table 0"/>
          <p:cNvGraphicFramePr>
            <a:graphicFrameLocks noGrp="1"/>
          </p:cNvGraphicFramePr>
          <p:nvPr>
            <p:extLst>
              <p:ext uri="{D42A27DB-BD31-4B8C-83A1-F6EECF244321}">
                <p14:modId xmlns:p14="http://schemas.microsoft.com/office/powerpoint/2010/main" val="1462193086"/>
              </p:ext>
            </p:extLst>
          </p:nvPr>
        </p:nvGraphicFramePr>
        <p:xfrm>
          <a:off x="4297680" y="1828800"/>
          <a:ext cx="7315200" cy="3383280"/>
        </p:xfrm>
        <a:graphic>
          <a:graphicData uri="http://schemas.openxmlformats.org/drawingml/2006/table">
            <a:tbl>
              <a:tblPr/>
              <a:tblGrid>
                <a:gridCol w="219456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tblGrid>
              <a:tr h="457200">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Metric</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1A1A1A"/>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Raw Dataset</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1A1A1A"/>
                    </a:solidFill>
                  </a:tcPr>
                </a:tc>
                <a:tc>
                  <a:txBody>
                    <a:bodyPr/>
                    <a:lstStyle/>
                    <a:p>
                      <a:pPr marL="0" indent="0">
                        <a:buNone/>
                      </a:pPr>
                      <a:r>
                        <a:rPr lang="en-US" sz="1150" b="1" dirty="0">
                          <a:solidFill>
                            <a:srgbClr val="FFFFFF"/>
                          </a:solidFill>
                          <a:latin typeface="Calibri" pitchFamily="34" charset="0"/>
                          <a:ea typeface="Calibri" pitchFamily="34" charset="-122"/>
                          <a:cs typeface="Calibri" pitchFamily="34" charset="-120"/>
                        </a:rPr>
                        <a:t>Cleaned Dataset</a:t>
                      </a:r>
                      <a:endParaRPr lang="en-US" sz="115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1A1A1A"/>
                    </a:solidFill>
                  </a:tcPr>
                </a:tc>
                <a:extLst>
                  <a:ext uri="{0D108BD9-81ED-4DB2-BD59-A6C34878D82A}">
                    <a16:rowId xmlns:a16="http://schemas.microsoft.com/office/drawing/2014/main" val="10000"/>
                  </a:ext>
                </a:extLst>
              </a:tr>
              <a:tr h="457200">
                <a:tc>
                  <a:txBody>
                    <a:bodyPr/>
                    <a:lstStyle/>
                    <a:p>
                      <a:pPr marL="0" indent="0">
                        <a:buNone/>
                      </a:pPr>
                      <a:r>
                        <a:rPr lang="en-US" sz="1400" dirty="0">
                          <a:solidFill>
                            <a:srgbClr val="3A3A3A"/>
                          </a:solidFill>
                          <a:latin typeface="Times New Roman" panose="02020603050405020304" pitchFamily="18" charset="0"/>
                          <a:ea typeface="Calibri" pitchFamily="34" charset="-122"/>
                          <a:cs typeface="Times New Roman" panose="02020603050405020304" pitchFamily="18" charset="0"/>
                        </a:rPr>
                        <a:t>Total records</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buNone/>
                      </a:pPr>
                      <a:r>
                        <a:rPr lang="en-US" sz="1400" dirty="0">
                          <a:solidFill>
                            <a:srgbClr val="3A3A3A"/>
                          </a:solidFill>
                          <a:latin typeface="Times New Roman" panose="02020603050405020304" pitchFamily="18" charset="0"/>
                          <a:ea typeface="Calibri" pitchFamily="34" charset="-122"/>
                          <a:cs typeface="Times New Roman" panose="02020603050405020304" pitchFamily="18" charset="0"/>
                        </a:rPr>
                        <a:t>2,185</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buNone/>
                      </a:pPr>
                      <a:r>
                        <a:rPr lang="en-US" sz="1400" dirty="0">
                          <a:solidFill>
                            <a:srgbClr val="3A3A3A"/>
                          </a:solidFill>
                          <a:latin typeface="Times New Roman" panose="02020603050405020304" pitchFamily="18" charset="0"/>
                          <a:ea typeface="Calibri" pitchFamily="34" charset="-122"/>
                          <a:cs typeface="Times New Roman" panose="02020603050405020304" pitchFamily="18" charset="0"/>
                        </a:rPr>
                        <a:t>506</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400" dirty="0">
                          <a:solidFill>
                            <a:srgbClr val="3A3A3A"/>
                          </a:solidFill>
                          <a:latin typeface="Times New Roman" panose="02020603050405020304" pitchFamily="18" charset="0"/>
                          <a:ea typeface="Calibri" pitchFamily="34" charset="-122"/>
                          <a:cs typeface="Times New Roman" panose="02020603050405020304" pitchFamily="18" charset="0"/>
                        </a:rPr>
                        <a:t>Price format</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buNone/>
                      </a:pPr>
                      <a:r>
                        <a:rPr lang="en-US" sz="1400" dirty="0">
                          <a:solidFill>
                            <a:srgbClr val="3A3A3A"/>
                          </a:solidFill>
                          <a:latin typeface="Times New Roman" panose="02020603050405020304" pitchFamily="18" charset="0"/>
                          <a:ea typeface="Calibri" pitchFamily="34" charset="-122"/>
                          <a:cs typeface="Times New Roman" panose="02020603050405020304" pitchFamily="18" charset="0"/>
                        </a:rPr>
                        <a:t>Text with ₹ and commas (e.g. "₹56,990")</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buNone/>
                      </a:pPr>
                      <a:r>
                        <a:rPr lang="en-US" sz="1400" dirty="0">
                          <a:solidFill>
                            <a:srgbClr val="3A3A3A"/>
                          </a:solidFill>
                          <a:latin typeface="Times New Roman" panose="02020603050405020304" pitchFamily="18" charset="0"/>
                          <a:ea typeface="Calibri" pitchFamily="34" charset="-122"/>
                          <a:cs typeface="Times New Roman" panose="02020603050405020304" pitchFamily="18" charset="0"/>
                        </a:rPr>
                        <a:t>Integer (56990)</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400" dirty="0">
                          <a:solidFill>
                            <a:srgbClr val="3A3A3A"/>
                          </a:solidFill>
                          <a:latin typeface="Times New Roman" panose="02020603050405020304" pitchFamily="18" charset="0"/>
                          <a:ea typeface="Calibri" pitchFamily="34" charset="-122"/>
                          <a:cs typeface="Times New Roman" panose="02020603050405020304" pitchFamily="18" charset="0"/>
                        </a:rPr>
                        <a:t>RAM format</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buNone/>
                      </a:pPr>
                      <a:r>
                        <a:rPr lang="en-US" sz="1400" dirty="0">
                          <a:solidFill>
                            <a:srgbClr val="3A3A3A"/>
                          </a:solidFill>
                          <a:latin typeface="Times New Roman" panose="02020603050405020304" pitchFamily="18" charset="0"/>
                          <a:ea typeface="Calibri" pitchFamily="34" charset="-122"/>
                          <a:cs typeface="Times New Roman" panose="02020603050405020304" pitchFamily="18" charset="0"/>
                        </a:rPr>
                        <a:t>Text (e.g. "8 GB LPDDR4X RAM")</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buNone/>
                      </a:pPr>
                      <a:r>
                        <a:rPr lang="en-US" sz="1400" dirty="0">
                          <a:solidFill>
                            <a:srgbClr val="3A3A3A"/>
                          </a:solidFill>
                          <a:latin typeface="Times New Roman" panose="02020603050405020304" pitchFamily="18" charset="0"/>
                          <a:ea typeface="Calibri" pitchFamily="34" charset="-122"/>
                          <a:cs typeface="Times New Roman" panose="02020603050405020304" pitchFamily="18" charset="0"/>
                        </a:rPr>
                        <a:t>Standardized (8 GB)</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400" dirty="0">
                          <a:solidFill>
                            <a:srgbClr val="3A3A3A"/>
                          </a:solidFill>
                          <a:latin typeface="Times New Roman" panose="02020603050405020304" pitchFamily="18" charset="0"/>
                          <a:ea typeface="Calibri" pitchFamily="34" charset="-122"/>
                          <a:cs typeface="Times New Roman" panose="02020603050405020304" pitchFamily="18" charset="0"/>
                        </a:rPr>
                        <a:t>Display format</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buNone/>
                      </a:pPr>
                      <a:r>
                        <a:rPr lang="en-US" sz="1400" dirty="0">
                          <a:solidFill>
                            <a:srgbClr val="3A3A3A"/>
                          </a:solidFill>
                          <a:latin typeface="Times New Roman" panose="02020603050405020304" pitchFamily="18" charset="0"/>
                          <a:ea typeface="Calibri" pitchFamily="34" charset="-122"/>
                          <a:cs typeface="Times New Roman" panose="02020603050405020304" pitchFamily="18" charset="0"/>
                        </a:rPr>
                        <a:t>Text (e.g. "39.62 cm (15.6 Inch)")</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buNone/>
                      </a:pPr>
                      <a:r>
                        <a:rPr lang="en-US" sz="1400" dirty="0">
                          <a:solidFill>
                            <a:srgbClr val="3A3A3A"/>
                          </a:solidFill>
                          <a:latin typeface="Times New Roman" panose="02020603050405020304" pitchFamily="18" charset="0"/>
                          <a:ea typeface="Calibri" pitchFamily="34" charset="-122"/>
                          <a:cs typeface="Times New Roman" panose="02020603050405020304" pitchFamily="18" charset="0"/>
                        </a:rPr>
                        <a:t>Numeric inches (15.6 inch)</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400" dirty="0">
                          <a:solidFill>
                            <a:srgbClr val="3A3A3A"/>
                          </a:solidFill>
                          <a:latin typeface="Times New Roman" panose="02020603050405020304" pitchFamily="18" charset="0"/>
                          <a:ea typeface="Calibri" pitchFamily="34" charset="-122"/>
                          <a:cs typeface="Times New Roman" panose="02020603050405020304" pitchFamily="18" charset="0"/>
                        </a:rPr>
                        <a:t>Discount</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buNone/>
                      </a:pPr>
                      <a:r>
                        <a:rPr lang="en-US" sz="1400" dirty="0">
                          <a:solidFill>
                            <a:srgbClr val="3A3A3A"/>
                          </a:solidFill>
                          <a:latin typeface="Times New Roman" panose="02020603050405020304" pitchFamily="18" charset="0"/>
                          <a:ea typeface="Calibri" pitchFamily="34" charset="-122"/>
                          <a:cs typeface="Times New Roman" panose="02020603050405020304" pitchFamily="18" charset="0"/>
                        </a:rPr>
                        <a:t>Text ("27% off")</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buNone/>
                      </a:pPr>
                      <a:r>
                        <a:rPr lang="en-US" sz="1400" dirty="0">
                          <a:solidFill>
                            <a:srgbClr val="3A3A3A"/>
                          </a:solidFill>
                          <a:latin typeface="Times New Roman" panose="02020603050405020304" pitchFamily="18" charset="0"/>
                          <a:ea typeface="Calibri" pitchFamily="34" charset="-122"/>
                          <a:cs typeface="Times New Roman" panose="02020603050405020304" pitchFamily="18" charset="0"/>
                        </a:rPr>
                        <a:t>Numeric % + Original Price derived</a:t>
                      </a:r>
                      <a:endParaRPr lang="en-US" sz="1400" dirty="0">
                        <a:latin typeface="Times New Roman" panose="02020603050405020304" pitchFamily="18" charset="0"/>
                        <a:ea typeface="Calibri" charset="0"/>
                        <a:cs typeface="Times New Roman" panose="02020603050405020304" pitchFamily="18"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buNone/>
                      </a:pPr>
                      <a:r>
                        <a:rPr lang="en-US" sz="1400" kern="1200" dirty="0">
                          <a:solidFill>
                            <a:srgbClr val="3A3A3A"/>
                          </a:solidFill>
                          <a:latin typeface="Times New Roman" panose="02020603050405020304" pitchFamily="18" charset="0"/>
                          <a:ea typeface="Calibri" pitchFamily="34" charset="-122"/>
                          <a:cs typeface="Times New Roman" panose="02020603050405020304" pitchFamily="18" charset="0"/>
                        </a:rPr>
                        <a:t>Shape</a:t>
                      </a: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buNone/>
                      </a:pPr>
                      <a:r>
                        <a:rPr lang="en-US" sz="1400" dirty="0">
                          <a:latin typeface="Times New Roman" panose="02020603050405020304" pitchFamily="18" charset="0"/>
                          <a:ea typeface="Calibri" charset="0"/>
                          <a:cs typeface="Times New Roman" panose="02020603050405020304" pitchFamily="18" charset="0"/>
                        </a:rPr>
                        <a:t>(</a:t>
                      </a:r>
                      <a:r>
                        <a:rPr lang="en-US" sz="1400" kern="1200" dirty="0">
                          <a:solidFill>
                            <a:srgbClr val="3A3A3A"/>
                          </a:solidFill>
                          <a:latin typeface="Times New Roman" panose="02020603050405020304" pitchFamily="18" charset="0"/>
                          <a:ea typeface="Calibri" pitchFamily="34" charset="-122"/>
                          <a:cs typeface="Times New Roman" panose="02020603050405020304" pitchFamily="18" charset="0"/>
                        </a:rPr>
                        <a:t>2090,9</a:t>
                      </a:r>
                      <a:r>
                        <a:rPr lang="en-US" sz="1400" dirty="0">
                          <a:latin typeface="Times New Roman" panose="02020603050405020304" pitchFamily="18" charset="0"/>
                          <a:ea typeface="Calibri" charset="0"/>
                          <a:cs typeface="Times New Roman" panose="02020603050405020304" pitchFamily="18" charset="0"/>
                        </a:rPr>
                        <a:t>)</a:t>
                      </a: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buNone/>
                      </a:pPr>
                      <a:r>
                        <a:rPr lang="en-US" sz="1400" dirty="0">
                          <a:latin typeface="Times New Roman" panose="02020603050405020304" pitchFamily="18" charset="0"/>
                          <a:ea typeface="Calibri" charset="0"/>
                          <a:cs typeface="Times New Roman" panose="02020603050405020304" pitchFamily="18" charset="0"/>
                        </a:rPr>
                        <a:t>(</a:t>
                      </a:r>
                      <a:r>
                        <a:rPr lang="en-US" sz="1400" kern="1200" dirty="0">
                          <a:solidFill>
                            <a:srgbClr val="3A3A3A"/>
                          </a:solidFill>
                          <a:latin typeface="Times New Roman" panose="02020603050405020304" pitchFamily="18" charset="0"/>
                          <a:ea typeface="Calibri" pitchFamily="34" charset="-122"/>
                          <a:cs typeface="Times New Roman" panose="02020603050405020304" pitchFamily="18" charset="0"/>
                        </a:rPr>
                        <a:t>506,9</a:t>
                      </a:r>
                      <a:r>
                        <a:rPr lang="en-US" sz="1400" dirty="0">
                          <a:latin typeface="Times New Roman" panose="02020603050405020304" pitchFamily="18" charset="0"/>
                          <a:ea typeface="Calibri" charset="0"/>
                          <a:cs typeface="Times New Roman" panose="02020603050405020304" pitchFamily="18" charset="0"/>
                        </a:rPr>
                        <a:t>)</a:t>
                      </a: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13" name="Text 10"/>
          <p:cNvSpPr/>
          <p:nvPr/>
        </p:nvSpPr>
        <p:spPr>
          <a:xfrm>
            <a:off x="11274552" y="6537960"/>
            <a:ext cx="45720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731520"/>
          </a:xfrm>
          <a:prstGeom prst="rect">
            <a:avLst/>
          </a:prstGeom>
          <a:noFill/>
          <a:ln/>
        </p:spPr>
        <p:txBody>
          <a:bodyPr wrap="square"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Data Cleaning &amp; Preparation</a:t>
            </a:r>
            <a:endParaRPr lang="en-US" sz="3000" dirty="0"/>
          </a:p>
        </p:txBody>
      </p:sp>
      <p:sp>
        <p:nvSpPr>
          <p:cNvPr id="3" name="Shape 1"/>
          <p:cNvSpPr/>
          <p:nvPr/>
        </p:nvSpPr>
        <p:spPr>
          <a:xfrm>
            <a:off x="548640" y="1463040"/>
            <a:ext cx="3566160" cy="2148840"/>
          </a:xfrm>
          <a:prstGeom prst="rect">
            <a:avLst/>
          </a:prstGeom>
          <a:solidFill>
            <a:srgbClr val="F2F2F2"/>
          </a:solidFill>
          <a:ln/>
        </p:spPr>
        <p:txBody>
          <a:bodyPr/>
          <a:lstStyle/>
          <a:p>
            <a:endParaRPr lang="en-IN"/>
          </a:p>
        </p:txBody>
      </p:sp>
      <p:sp>
        <p:nvSpPr>
          <p:cNvPr id="4" name="Shape 2"/>
          <p:cNvSpPr/>
          <p:nvPr/>
        </p:nvSpPr>
        <p:spPr>
          <a:xfrm>
            <a:off x="548640" y="1463040"/>
            <a:ext cx="3566160" cy="73152"/>
          </a:xfrm>
          <a:prstGeom prst="rect">
            <a:avLst/>
          </a:prstGeom>
          <a:solidFill>
            <a:srgbClr val="C8102E"/>
          </a:solidFill>
          <a:ln/>
        </p:spPr>
        <p:txBody>
          <a:bodyPr/>
          <a:lstStyle/>
          <a:p>
            <a:endParaRPr lang="en-IN"/>
          </a:p>
        </p:txBody>
      </p:sp>
      <p:sp>
        <p:nvSpPr>
          <p:cNvPr id="5" name="Text 3"/>
          <p:cNvSpPr/>
          <p:nvPr/>
        </p:nvSpPr>
        <p:spPr>
          <a:xfrm>
            <a:off x="731520" y="1627632"/>
            <a:ext cx="1097280" cy="365760"/>
          </a:xfrm>
          <a:prstGeom prst="rect">
            <a:avLst/>
          </a:prstGeom>
          <a:noFill/>
          <a:ln/>
        </p:spPr>
        <p:txBody>
          <a:bodyPr wrap="square" rtlCol="0" anchor="ctr"/>
          <a:lstStyle/>
          <a:p>
            <a:pPr marL="0" indent="0">
              <a:buNone/>
            </a:pPr>
            <a:r>
              <a:rPr lang="en-US" sz="2000" b="1" dirty="0">
                <a:solidFill>
                  <a:srgbClr val="C8102E"/>
                </a:solidFill>
                <a:latin typeface="Cambria" pitchFamily="34" charset="0"/>
                <a:ea typeface="Cambria" pitchFamily="34" charset="-122"/>
                <a:cs typeface="Cambria" pitchFamily="34" charset="-120"/>
              </a:rPr>
              <a:t>01</a:t>
            </a:r>
            <a:endParaRPr lang="en-US" sz="2000" dirty="0"/>
          </a:p>
        </p:txBody>
      </p:sp>
      <p:sp>
        <p:nvSpPr>
          <p:cNvPr id="6" name="Text 4"/>
          <p:cNvSpPr/>
          <p:nvPr/>
        </p:nvSpPr>
        <p:spPr>
          <a:xfrm>
            <a:off x="731520" y="2057400"/>
            <a:ext cx="3200400" cy="502920"/>
          </a:xfrm>
          <a:prstGeom prst="rect">
            <a:avLst/>
          </a:prstGeom>
          <a:noFill/>
          <a:ln/>
        </p:spPr>
        <p:txBody>
          <a:bodyPr wrap="square" rtlCol="0" anchor="ctr"/>
          <a:lstStyle/>
          <a:p>
            <a:pPr marL="0" indent="0">
              <a:buNone/>
            </a:pPr>
            <a:r>
              <a:rPr lang="en-US" sz="1400" b="1" dirty="0">
                <a:solidFill>
                  <a:srgbClr val="1A1A1A"/>
                </a:solidFill>
                <a:latin typeface="Times New Roman" panose="02020603050405020304" pitchFamily="18" charset="0"/>
                <a:ea typeface="Calibri" pitchFamily="34" charset="-122"/>
                <a:cs typeface="Times New Roman" panose="02020603050405020304" pitchFamily="18" charset="0"/>
              </a:rPr>
              <a:t>Text → Numeric Extraction</a:t>
            </a:r>
            <a:endParaRPr lang="en-US" sz="1400" dirty="0">
              <a:latin typeface="Times New Roman" panose="02020603050405020304" pitchFamily="18" charset="0"/>
              <a:cs typeface="Times New Roman" panose="02020603050405020304" pitchFamily="18" charset="0"/>
            </a:endParaRPr>
          </a:p>
        </p:txBody>
      </p:sp>
      <p:sp>
        <p:nvSpPr>
          <p:cNvPr id="7" name="Text 5"/>
          <p:cNvSpPr/>
          <p:nvPr/>
        </p:nvSpPr>
        <p:spPr>
          <a:xfrm>
            <a:off x="731520" y="2560320"/>
            <a:ext cx="3200400" cy="960120"/>
          </a:xfrm>
          <a:prstGeom prst="rect">
            <a:avLst/>
          </a:prstGeom>
          <a:noFill/>
          <a:ln/>
        </p:spPr>
        <p:txBody>
          <a:bodyPr wrap="square" rtlCol="0" anchor="ctr"/>
          <a:lstStyle/>
          <a:p>
            <a:pPr marL="0" indent="0" algn="just">
              <a:lnSpc>
                <a:spcPct val="115000"/>
              </a:lnSpc>
              <a:buNone/>
            </a:pPr>
            <a:r>
              <a:rPr lang="en-US" sz="1600" dirty="0">
                <a:solidFill>
                  <a:srgbClr val="3A3A3A"/>
                </a:solidFill>
                <a:latin typeface="Times New Roman" panose="02020603050405020304" pitchFamily="18" charset="0"/>
                <a:ea typeface="Calibri" pitchFamily="34" charset="-122"/>
                <a:cs typeface="Times New Roman" panose="02020603050405020304" pitchFamily="18" charset="0"/>
              </a:rPr>
              <a:t>Used regex to pull clean numeric values out of RAM, Display, Price and Discount text fields.</a:t>
            </a:r>
            <a:endParaRPr lang="en-US" sz="1600" dirty="0">
              <a:latin typeface="Times New Roman" panose="02020603050405020304" pitchFamily="18" charset="0"/>
              <a:cs typeface="Times New Roman" panose="02020603050405020304" pitchFamily="18" charset="0"/>
            </a:endParaRPr>
          </a:p>
        </p:txBody>
      </p:sp>
      <p:sp>
        <p:nvSpPr>
          <p:cNvPr id="8" name="Shape 6"/>
          <p:cNvSpPr/>
          <p:nvPr/>
        </p:nvSpPr>
        <p:spPr>
          <a:xfrm>
            <a:off x="4297680" y="1463040"/>
            <a:ext cx="3566160" cy="2148840"/>
          </a:xfrm>
          <a:prstGeom prst="rect">
            <a:avLst/>
          </a:prstGeom>
          <a:solidFill>
            <a:srgbClr val="F2F2F2"/>
          </a:solidFill>
          <a:ln/>
        </p:spPr>
        <p:txBody>
          <a:bodyPr/>
          <a:lstStyle/>
          <a:p>
            <a:endParaRPr lang="en-IN"/>
          </a:p>
        </p:txBody>
      </p:sp>
      <p:sp>
        <p:nvSpPr>
          <p:cNvPr id="9" name="Shape 7"/>
          <p:cNvSpPr/>
          <p:nvPr/>
        </p:nvSpPr>
        <p:spPr>
          <a:xfrm>
            <a:off x="4297680" y="1463040"/>
            <a:ext cx="3566160" cy="73152"/>
          </a:xfrm>
          <a:prstGeom prst="rect">
            <a:avLst/>
          </a:prstGeom>
          <a:solidFill>
            <a:srgbClr val="C8102E"/>
          </a:solidFill>
          <a:ln/>
        </p:spPr>
        <p:txBody>
          <a:bodyPr/>
          <a:lstStyle/>
          <a:p>
            <a:endParaRPr lang="en-IN"/>
          </a:p>
        </p:txBody>
      </p:sp>
      <p:sp>
        <p:nvSpPr>
          <p:cNvPr id="10" name="Text 8"/>
          <p:cNvSpPr/>
          <p:nvPr/>
        </p:nvSpPr>
        <p:spPr>
          <a:xfrm>
            <a:off x="4480560" y="1627632"/>
            <a:ext cx="1097280" cy="365760"/>
          </a:xfrm>
          <a:prstGeom prst="rect">
            <a:avLst/>
          </a:prstGeom>
          <a:noFill/>
          <a:ln/>
        </p:spPr>
        <p:txBody>
          <a:bodyPr wrap="square" rtlCol="0" anchor="ctr"/>
          <a:lstStyle/>
          <a:p>
            <a:pPr marL="0" indent="0">
              <a:buNone/>
            </a:pPr>
            <a:r>
              <a:rPr lang="en-US" sz="2000" b="1" dirty="0">
                <a:solidFill>
                  <a:srgbClr val="C8102E"/>
                </a:solidFill>
                <a:latin typeface="Cambria" pitchFamily="34" charset="0"/>
                <a:ea typeface="Cambria" pitchFamily="34" charset="-122"/>
                <a:cs typeface="Cambria" pitchFamily="34" charset="-120"/>
              </a:rPr>
              <a:t>02</a:t>
            </a:r>
            <a:endParaRPr lang="en-US" sz="2000" dirty="0"/>
          </a:p>
        </p:txBody>
      </p:sp>
      <p:sp>
        <p:nvSpPr>
          <p:cNvPr id="11" name="Text 9"/>
          <p:cNvSpPr/>
          <p:nvPr/>
        </p:nvSpPr>
        <p:spPr>
          <a:xfrm>
            <a:off x="4480560" y="2057400"/>
            <a:ext cx="3200400" cy="502920"/>
          </a:xfrm>
          <a:prstGeom prst="rect">
            <a:avLst/>
          </a:prstGeom>
          <a:noFill/>
          <a:ln/>
        </p:spPr>
        <p:txBody>
          <a:bodyPr wrap="square" rtlCol="0" anchor="ctr"/>
          <a:lstStyle/>
          <a:p>
            <a:pPr marL="0" indent="0">
              <a:buNone/>
            </a:pPr>
            <a:r>
              <a:rPr lang="en-US" sz="1600" b="1" dirty="0">
                <a:solidFill>
                  <a:srgbClr val="1A1A1A"/>
                </a:solidFill>
                <a:latin typeface="Times New Roman" panose="02020603050405020304" pitchFamily="18" charset="0"/>
                <a:ea typeface="Calibri" pitchFamily="34" charset="-122"/>
                <a:cs typeface="Times New Roman" panose="02020603050405020304" pitchFamily="18" charset="0"/>
              </a:rPr>
              <a:t>Type Conversion</a:t>
            </a:r>
            <a:endParaRPr lang="en-US" sz="1600" dirty="0">
              <a:latin typeface="Times New Roman" panose="02020603050405020304" pitchFamily="18" charset="0"/>
              <a:cs typeface="Times New Roman" panose="02020603050405020304" pitchFamily="18" charset="0"/>
            </a:endParaRPr>
          </a:p>
        </p:txBody>
      </p:sp>
      <p:sp>
        <p:nvSpPr>
          <p:cNvPr id="12" name="Text 10"/>
          <p:cNvSpPr/>
          <p:nvPr/>
        </p:nvSpPr>
        <p:spPr>
          <a:xfrm>
            <a:off x="4480560" y="2560320"/>
            <a:ext cx="3200400" cy="960120"/>
          </a:xfrm>
          <a:prstGeom prst="rect">
            <a:avLst/>
          </a:prstGeom>
          <a:noFill/>
          <a:ln/>
        </p:spPr>
        <p:txBody>
          <a:bodyPr wrap="square" rtlCol="0" anchor="ctr"/>
          <a:lstStyle/>
          <a:p>
            <a:pPr marL="0" indent="0">
              <a:lnSpc>
                <a:spcPct val="115000"/>
              </a:lnSpc>
              <a:buNone/>
            </a:pPr>
            <a:r>
              <a:rPr lang="en-US" sz="1600" dirty="0">
                <a:solidFill>
                  <a:srgbClr val="3A3A3A"/>
                </a:solidFill>
                <a:latin typeface="Times New Roman" panose="02020603050405020304" pitchFamily="18" charset="0"/>
                <a:ea typeface="Calibri" pitchFamily="34" charset="-122"/>
                <a:cs typeface="Times New Roman" panose="02020603050405020304" pitchFamily="18" charset="0"/>
              </a:rPr>
              <a:t>Converted Price to int and Rating to float for numeric analysis.</a:t>
            </a:r>
            <a:endParaRPr lang="en-US" sz="1600" dirty="0">
              <a:latin typeface="Times New Roman" panose="02020603050405020304" pitchFamily="18" charset="0"/>
              <a:cs typeface="Times New Roman" panose="02020603050405020304" pitchFamily="18" charset="0"/>
            </a:endParaRPr>
          </a:p>
        </p:txBody>
      </p:sp>
      <p:sp>
        <p:nvSpPr>
          <p:cNvPr id="13" name="Shape 11"/>
          <p:cNvSpPr/>
          <p:nvPr/>
        </p:nvSpPr>
        <p:spPr>
          <a:xfrm>
            <a:off x="8046720" y="1463040"/>
            <a:ext cx="3566160" cy="2148840"/>
          </a:xfrm>
          <a:prstGeom prst="rect">
            <a:avLst/>
          </a:prstGeom>
          <a:solidFill>
            <a:srgbClr val="F2F2F2"/>
          </a:solidFill>
          <a:ln/>
        </p:spPr>
        <p:txBody>
          <a:bodyPr/>
          <a:lstStyle/>
          <a:p>
            <a:endParaRPr lang="en-IN"/>
          </a:p>
        </p:txBody>
      </p:sp>
      <p:sp>
        <p:nvSpPr>
          <p:cNvPr id="14" name="Shape 12"/>
          <p:cNvSpPr/>
          <p:nvPr/>
        </p:nvSpPr>
        <p:spPr>
          <a:xfrm>
            <a:off x="8046720" y="1463040"/>
            <a:ext cx="3566160" cy="73152"/>
          </a:xfrm>
          <a:prstGeom prst="rect">
            <a:avLst/>
          </a:prstGeom>
          <a:solidFill>
            <a:srgbClr val="C8102E"/>
          </a:solidFill>
          <a:ln/>
        </p:spPr>
        <p:txBody>
          <a:bodyPr/>
          <a:lstStyle/>
          <a:p>
            <a:endParaRPr lang="en-IN"/>
          </a:p>
        </p:txBody>
      </p:sp>
      <p:sp>
        <p:nvSpPr>
          <p:cNvPr id="15" name="Text 13"/>
          <p:cNvSpPr/>
          <p:nvPr/>
        </p:nvSpPr>
        <p:spPr>
          <a:xfrm>
            <a:off x="8229600" y="1627632"/>
            <a:ext cx="1097280" cy="365760"/>
          </a:xfrm>
          <a:prstGeom prst="rect">
            <a:avLst/>
          </a:prstGeom>
          <a:noFill/>
          <a:ln/>
        </p:spPr>
        <p:txBody>
          <a:bodyPr wrap="square" rtlCol="0" anchor="ctr"/>
          <a:lstStyle/>
          <a:p>
            <a:pPr marL="0" indent="0">
              <a:buNone/>
            </a:pPr>
            <a:r>
              <a:rPr lang="en-US" sz="2000" b="1" dirty="0">
                <a:solidFill>
                  <a:srgbClr val="C8102E"/>
                </a:solidFill>
                <a:latin typeface="Cambria" pitchFamily="34" charset="0"/>
                <a:ea typeface="Cambria" pitchFamily="34" charset="-122"/>
                <a:cs typeface="Cambria" pitchFamily="34" charset="-120"/>
              </a:rPr>
              <a:t>03</a:t>
            </a:r>
            <a:endParaRPr lang="en-US" sz="2000" dirty="0"/>
          </a:p>
        </p:txBody>
      </p:sp>
      <p:sp>
        <p:nvSpPr>
          <p:cNvPr id="16" name="Text 14"/>
          <p:cNvSpPr/>
          <p:nvPr/>
        </p:nvSpPr>
        <p:spPr>
          <a:xfrm>
            <a:off x="8229600" y="2057400"/>
            <a:ext cx="3200400" cy="502920"/>
          </a:xfrm>
          <a:prstGeom prst="rect">
            <a:avLst/>
          </a:prstGeom>
          <a:noFill/>
          <a:ln/>
        </p:spPr>
        <p:txBody>
          <a:bodyPr wrap="square" rtlCol="0" anchor="ctr"/>
          <a:lstStyle/>
          <a:p>
            <a:pPr marL="0" indent="0">
              <a:buNone/>
            </a:pPr>
            <a:r>
              <a:rPr lang="en-US" sz="1600" b="1" dirty="0">
                <a:solidFill>
                  <a:srgbClr val="1A1A1A"/>
                </a:solidFill>
                <a:latin typeface="Times New Roman" panose="02020603050405020304" pitchFamily="18" charset="0"/>
                <a:ea typeface="Calibri" pitchFamily="34" charset="-122"/>
                <a:cs typeface="Times New Roman" panose="02020603050405020304" pitchFamily="18" charset="0"/>
              </a:rPr>
              <a:t>Duplicate Removal</a:t>
            </a:r>
            <a:endParaRPr lang="en-US" sz="1600" dirty="0">
              <a:latin typeface="Times New Roman" panose="02020603050405020304" pitchFamily="18" charset="0"/>
              <a:cs typeface="Times New Roman" panose="02020603050405020304" pitchFamily="18" charset="0"/>
            </a:endParaRPr>
          </a:p>
        </p:txBody>
      </p:sp>
      <p:sp>
        <p:nvSpPr>
          <p:cNvPr id="17" name="Text 15"/>
          <p:cNvSpPr/>
          <p:nvPr/>
        </p:nvSpPr>
        <p:spPr>
          <a:xfrm>
            <a:off x="8229600" y="2560320"/>
            <a:ext cx="3200400" cy="960120"/>
          </a:xfrm>
          <a:prstGeom prst="rect">
            <a:avLst/>
          </a:prstGeom>
          <a:noFill/>
          <a:ln/>
        </p:spPr>
        <p:txBody>
          <a:bodyPr wrap="square" rtlCol="0" anchor="ctr"/>
          <a:lstStyle/>
          <a:p>
            <a:pPr marL="0" indent="0">
              <a:lnSpc>
                <a:spcPct val="115000"/>
              </a:lnSpc>
              <a:buNone/>
            </a:pPr>
            <a:r>
              <a:rPr lang="en-US" sz="1600" dirty="0">
                <a:solidFill>
                  <a:srgbClr val="3A3A3A"/>
                </a:solidFill>
                <a:latin typeface="Times New Roman" panose="02020603050405020304" pitchFamily="18" charset="0"/>
                <a:ea typeface="Calibri" pitchFamily="34" charset="-122"/>
                <a:cs typeface="Times New Roman" panose="02020603050405020304" pitchFamily="18" charset="0"/>
              </a:rPr>
              <a:t>Detected and dropped duplicate listings scraped across overlapping search pages.</a:t>
            </a:r>
            <a:endParaRPr lang="en-US" sz="1600" dirty="0">
              <a:latin typeface="Times New Roman" panose="02020603050405020304" pitchFamily="18" charset="0"/>
              <a:cs typeface="Times New Roman" panose="02020603050405020304" pitchFamily="18" charset="0"/>
            </a:endParaRPr>
          </a:p>
        </p:txBody>
      </p:sp>
      <p:sp>
        <p:nvSpPr>
          <p:cNvPr id="18" name="Shape 16"/>
          <p:cNvSpPr/>
          <p:nvPr/>
        </p:nvSpPr>
        <p:spPr>
          <a:xfrm>
            <a:off x="548640" y="3840480"/>
            <a:ext cx="3566160" cy="2148840"/>
          </a:xfrm>
          <a:prstGeom prst="rect">
            <a:avLst/>
          </a:prstGeom>
          <a:solidFill>
            <a:srgbClr val="F2F2F2"/>
          </a:solidFill>
          <a:ln/>
        </p:spPr>
        <p:txBody>
          <a:bodyPr/>
          <a:lstStyle/>
          <a:p>
            <a:endParaRPr lang="en-IN"/>
          </a:p>
        </p:txBody>
      </p:sp>
      <p:sp>
        <p:nvSpPr>
          <p:cNvPr id="19" name="Shape 17"/>
          <p:cNvSpPr/>
          <p:nvPr/>
        </p:nvSpPr>
        <p:spPr>
          <a:xfrm>
            <a:off x="548640" y="3840480"/>
            <a:ext cx="3566160" cy="73152"/>
          </a:xfrm>
          <a:prstGeom prst="rect">
            <a:avLst/>
          </a:prstGeom>
          <a:solidFill>
            <a:srgbClr val="C8102E"/>
          </a:solidFill>
          <a:ln/>
        </p:spPr>
        <p:txBody>
          <a:bodyPr/>
          <a:lstStyle/>
          <a:p>
            <a:endParaRPr lang="en-IN"/>
          </a:p>
        </p:txBody>
      </p:sp>
      <p:sp>
        <p:nvSpPr>
          <p:cNvPr id="20" name="Text 18"/>
          <p:cNvSpPr/>
          <p:nvPr/>
        </p:nvSpPr>
        <p:spPr>
          <a:xfrm>
            <a:off x="731520" y="4005072"/>
            <a:ext cx="1097280" cy="365760"/>
          </a:xfrm>
          <a:prstGeom prst="rect">
            <a:avLst/>
          </a:prstGeom>
          <a:noFill/>
          <a:ln/>
        </p:spPr>
        <p:txBody>
          <a:bodyPr wrap="square" rtlCol="0" anchor="ctr"/>
          <a:lstStyle/>
          <a:p>
            <a:pPr marL="0" indent="0">
              <a:buNone/>
            </a:pPr>
            <a:r>
              <a:rPr lang="en-US" sz="2000" b="1" dirty="0">
                <a:solidFill>
                  <a:srgbClr val="C8102E"/>
                </a:solidFill>
                <a:latin typeface="Cambria" pitchFamily="34" charset="0"/>
                <a:ea typeface="Cambria" pitchFamily="34" charset="-122"/>
                <a:cs typeface="Cambria" pitchFamily="34" charset="-120"/>
              </a:rPr>
              <a:t>04</a:t>
            </a:r>
            <a:endParaRPr lang="en-US" sz="2000" dirty="0"/>
          </a:p>
        </p:txBody>
      </p:sp>
      <p:sp>
        <p:nvSpPr>
          <p:cNvPr id="21" name="Text 19"/>
          <p:cNvSpPr/>
          <p:nvPr/>
        </p:nvSpPr>
        <p:spPr>
          <a:xfrm>
            <a:off x="731520" y="4434840"/>
            <a:ext cx="3200400" cy="502920"/>
          </a:xfrm>
          <a:prstGeom prst="rect">
            <a:avLst/>
          </a:prstGeom>
          <a:noFill/>
          <a:ln/>
        </p:spPr>
        <p:txBody>
          <a:bodyPr wrap="square" rtlCol="0" anchor="ctr"/>
          <a:lstStyle/>
          <a:p>
            <a:pPr marL="0" indent="0">
              <a:buNone/>
            </a:pPr>
            <a:r>
              <a:rPr lang="en-US" sz="1600" b="1" dirty="0">
                <a:solidFill>
                  <a:srgbClr val="1A1A1A"/>
                </a:solidFill>
                <a:latin typeface="Times New Roman" panose="02020603050405020304" pitchFamily="18" charset="0"/>
                <a:ea typeface="Calibri" pitchFamily="34" charset="-122"/>
                <a:cs typeface="Times New Roman" panose="02020603050405020304" pitchFamily="18" charset="0"/>
              </a:rPr>
              <a:t>Missing Value Checks</a:t>
            </a:r>
            <a:endParaRPr lang="en-US" sz="1600" dirty="0">
              <a:latin typeface="Times New Roman" panose="02020603050405020304" pitchFamily="18" charset="0"/>
              <a:cs typeface="Times New Roman" panose="02020603050405020304" pitchFamily="18" charset="0"/>
            </a:endParaRPr>
          </a:p>
        </p:txBody>
      </p:sp>
      <p:sp>
        <p:nvSpPr>
          <p:cNvPr id="22" name="Text 20"/>
          <p:cNvSpPr/>
          <p:nvPr/>
        </p:nvSpPr>
        <p:spPr>
          <a:xfrm>
            <a:off x="731520" y="4937760"/>
            <a:ext cx="3200400" cy="960120"/>
          </a:xfrm>
          <a:prstGeom prst="rect">
            <a:avLst/>
          </a:prstGeom>
          <a:noFill/>
          <a:ln/>
        </p:spPr>
        <p:txBody>
          <a:bodyPr wrap="square" rtlCol="0" anchor="ctr"/>
          <a:lstStyle/>
          <a:p>
            <a:pPr marL="0" indent="0">
              <a:lnSpc>
                <a:spcPct val="115000"/>
              </a:lnSpc>
              <a:buNone/>
            </a:pPr>
            <a:r>
              <a:rPr lang="en-US" sz="1600" dirty="0">
                <a:solidFill>
                  <a:srgbClr val="3A3A3A"/>
                </a:solidFill>
                <a:latin typeface="Times New Roman" panose="02020603050405020304" pitchFamily="18" charset="0"/>
                <a:ea typeface="Calibri" pitchFamily="34" charset="-122"/>
                <a:cs typeface="Times New Roman" panose="02020603050405020304" pitchFamily="18" charset="0"/>
              </a:rPr>
              <a:t>Verified null counts across all fields before and after cleaning.</a:t>
            </a:r>
            <a:endParaRPr lang="en-US" sz="1600" dirty="0">
              <a:latin typeface="Times New Roman" panose="02020603050405020304" pitchFamily="18" charset="0"/>
              <a:cs typeface="Times New Roman" panose="02020603050405020304" pitchFamily="18" charset="0"/>
            </a:endParaRPr>
          </a:p>
        </p:txBody>
      </p:sp>
      <p:sp>
        <p:nvSpPr>
          <p:cNvPr id="23" name="Shape 21"/>
          <p:cNvSpPr/>
          <p:nvPr/>
        </p:nvSpPr>
        <p:spPr>
          <a:xfrm>
            <a:off x="4297680" y="3840480"/>
            <a:ext cx="3566160" cy="2148840"/>
          </a:xfrm>
          <a:prstGeom prst="rect">
            <a:avLst/>
          </a:prstGeom>
          <a:solidFill>
            <a:srgbClr val="F2F2F2"/>
          </a:solidFill>
          <a:ln/>
        </p:spPr>
        <p:txBody>
          <a:bodyPr/>
          <a:lstStyle/>
          <a:p>
            <a:endParaRPr lang="en-IN"/>
          </a:p>
        </p:txBody>
      </p:sp>
      <p:sp>
        <p:nvSpPr>
          <p:cNvPr id="24" name="Shape 22"/>
          <p:cNvSpPr/>
          <p:nvPr/>
        </p:nvSpPr>
        <p:spPr>
          <a:xfrm>
            <a:off x="4297680" y="3840480"/>
            <a:ext cx="3566160" cy="73152"/>
          </a:xfrm>
          <a:prstGeom prst="rect">
            <a:avLst/>
          </a:prstGeom>
          <a:solidFill>
            <a:srgbClr val="C8102E"/>
          </a:solidFill>
          <a:ln/>
        </p:spPr>
        <p:txBody>
          <a:bodyPr/>
          <a:lstStyle/>
          <a:p>
            <a:endParaRPr lang="en-IN"/>
          </a:p>
        </p:txBody>
      </p:sp>
      <p:sp>
        <p:nvSpPr>
          <p:cNvPr id="25" name="Text 23"/>
          <p:cNvSpPr/>
          <p:nvPr/>
        </p:nvSpPr>
        <p:spPr>
          <a:xfrm>
            <a:off x="4480560" y="4005072"/>
            <a:ext cx="1097280" cy="365760"/>
          </a:xfrm>
          <a:prstGeom prst="rect">
            <a:avLst/>
          </a:prstGeom>
          <a:noFill/>
          <a:ln/>
        </p:spPr>
        <p:txBody>
          <a:bodyPr wrap="square" rtlCol="0" anchor="ctr"/>
          <a:lstStyle/>
          <a:p>
            <a:pPr marL="0" indent="0">
              <a:buNone/>
            </a:pPr>
            <a:r>
              <a:rPr lang="en-US" sz="2000" b="1" dirty="0">
                <a:solidFill>
                  <a:srgbClr val="C8102E"/>
                </a:solidFill>
                <a:latin typeface="Cambria" pitchFamily="34" charset="0"/>
                <a:ea typeface="Cambria" pitchFamily="34" charset="-122"/>
                <a:cs typeface="Cambria" pitchFamily="34" charset="-120"/>
              </a:rPr>
              <a:t>05</a:t>
            </a:r>
            <a:endParaRPr lang="en-US" sz="2000" dirty="0"/>
          </a:p>
        </p:txBody>
      </p:sp>
      <p:sp>
        <p:nvSpPr>
          <p:cNvPr id="26" name="Text 24"/>
          <p:cNvSpPr/>
          <p:nvPr/>
        </p:nvSpPr>
        <p:spPr>
          <a:xfrm>
            <a:off x="4480560" y="4434840"/>
            <a:ext cx="3200400" cy="502920"/>
          </a:xfrm>
          <a:prstGeom prst="rect">
            <a:avLst/>
          </a:prstGeom>
          <a:noFill/>
          <a:ln/>
        </p:spPr>
        <p:txBody>
          <a:bodyPr wrap="square" rtlCol="0" anchor="ctr"/>
          <a:lstStyle/>
          <a:p>
            <a:pPr marL="0" indent="0">
              <a:buNone/>
            </a:pPr>
            <a:r>
              <a:rPr lang="en-US" sz="1600" b="1" dirty="0">
                <a:solidFill>
                  <a:srgbClr val="1A1A1A"/>
                </a:solidFill>
                <a:latin typeface="Times New Roman" panose="02020603050405020304" pitchFamily="18" charset="0"/>
                <a:ea typeface="Calibri" pitchFamily="34" charset="-122"/>
                <a:cs typeface="Times New Roman" panose="02020603050405020304" pitchFamily="18" charset="0"/>
              </a:rPr>
              <a:t>Feature Engineering</a:t>
            </a:r>
            <a:endParaRPr lang="en-US" sz="1600" dirty="0">
              <a:latin typeface="Times New Roman" panose="02020603050405020304" pitchFamily="18" charset="0"/>
              <a:cs typeface="Times New Roman" panose="02020603050405020304" pitchFamily="18" charset="0"/>
            </a:endParaRPr>
          </a:p>
        </p:txBody>
      </p:sp>
      <p:sp>
        <p:nvSpPr>
          <p:cNvPr id="27" name="Text 25"/>
          <p:cNvSpPr/>
          <p:nvPr/>
        </p:nvSpPr>
        <p:spPr>
          <a:xfrm>
            <a:off x="4480560" y="4937760"/>
            <a:ext cx="3200400" cy="960120"/>
          </a:xfrm>
          <a:prstGeom prst="rect">
            <a:avLst/>
          </a:prstGeom>
          <a:noFill/>
          <a:ln/>
        </p:spPr>
        <p:txBody>
          <a:bodyPr wrap="square" rtlCol="0" anchor="ctr"/>
          <a:lstStyle/>
          <a:p>
            <a:pPr marL="0" indent="0">
              <a:lnSpc>
                <a:spcPct val="115000"/>
              </a:lnSpc>
              <a:buNone/>
            </a:pPr>
            <a:r>
              <a:rPr lang="en-US" sz="1600" dirty="0">
                <a:solidFill>
                  <a:srgbClr val="3A3A3A"/>
                </a:solidFill>
                <a:latin typeface="Calibri" pitchFamily="34" charset="0"/>
                <a:ea typeface="Calibri" pitchFamily="34" charset="-122"/>
                <a:cs typeface="Calibri" pitchFamily="34" charset="-120"/>
              </a:rPr>
              <a:t>Derived Price_Category (Budget/Mid-Range/Premium), Original_Price and Processor_brand.</a:t>
            </a:r>
            <a:endParaRPr lang="en-US" sz="1600" dirty="0"/>
          </a:p>
        </p:txBody>
      </p:sp>
      <p:sp>
        <p:nvSpPr>
          <p:cNvPr id="28" name="Shape 26"/>
          <p:cNvSpPr/>
          <p:nvPr/>
        </p:nvSpPr>
        <p:spPr>
          <a:xfrm>
            <a:off x="8046720" y="3840480"/>
            <a:ext cx="3566160" cy="2148840"/>
          </a:xfrm>
          <a:prstGeom prst="rect">
            <a:avLst/>
          </a:prstGeom>
          <a:solidFill>
            <a:srgbClr val="F2F2F2"/>
          </a:solidFill>
          <a:ln/>
        </p:spPr>
        <p:txBody>
          <a:bodyPr/>
          <a:lstStyle/>
          <a:p>
            <a:endParaRPr lang="en-IN"/>
          </a:p>
        </p:txBody>
      </p:sp>
      <p:sp>
        <p:nvSpPr>
          <p:cNvPr id="29" name="Shape 27"/>
          <p:cNvSpPr/>
          <p:nvPr/>
        </p:nvSpPr>
        <p:spPr>
          <a:xfrm>
            <a:off x="8046720" y="3840480"/>
            <a:ext cx="3566160" cy="73152"/>
          </a:xfrm>
          <a:prstGeom prst="rect">
            <a:avLst/>
          </a:prstGeom>
          <a:solidFill>
            <a:srgbClr val="C8102E"/>
          </a:solidFill>
          <a:ln/>
        </p:spPr>
        <p:txBody>
          <a:bodyPr/>
          <a:lstStyle/>
          <a:p>
            <a:endParaRPr lang="en-IN"/>
          </a:p>
        </p:txBody>
      </p:sp>
      <p:sp>
        <p:nvSpPr>
          <p:cNvPr id="30" name="Text 28"/>
          <p:cNvSpPr/>
          <p:nvPr/>
        </p:nvSpPr>
        <p:spPr>
          <a:xfrm>
            <a:off x="8229600" y="4005072"/>
            <a:ext cx="1097280" cy="365760"/>
          </a:xfrm>
          <a:prstGeom prst="rect">
            <a:avLst/>
          </a:prstGeom>
          <a:noFill/>
          <a:ln/>
        </p:spPr>
        <p:txBody>
          <a:bodyPr wrap="square" rtlCol="0" anchor="ctr"/>
          <a:lstStyle/>
          <a:p>
            <a:pPr marL="0" indent="0">
              <a:buNone/>
            </a:pPr>
            <a:r>
              <a:rPr lang="en-US" sz="2000" b="1" dirty="0">
                <a:solidFill>
                  <a:srgbClr val="C8102E"/>
                </a:solidFill>
                <a:latin typeface="Cambria" pitchFamily="34" charset="0"/>
                <a:ea typeface="Cambria" pitchFamily="34" charset="-122"/>
                <a:cs typeface="Cambria" pitchFamily="34" charset="-120"/>
              </a:rPr>
              <a:t>06</a:t>
            </a:r>
            <a:endParaRPr lang="en-US" sz="2000" dirty="0"/>
          </a:p>
        </p:txBody>
      </p:sp>
      <p:sp>
        <p:nvSpPr>
          <p:cNvPr id="31" name="Text 29"/>
          <p:cNvSpPr/>
          <p:nvPr/>
        </p:nvSpPr>
        <p:spPr>
          <a:xfrm>
            <a:off x="8229600" y="4434840"/>
            <a:ext cx="3200400" cy="502920"/>
          </a:xfrm>
          <a:prstGeom prst="rect">
            <a:avLst/>
          </a:prstGeom>
          <a:noFill/>
          <a:ln/>
        </p:spPr>
        <p:txBody>
          <a:bodyPr wrap="square" rtlCol="0" anchor="ctr"/>
          <a:lstStyle/>
          <a:p>
            <a:pPr marL="0" indent="0">
              <a:buNone/>
            </a:pPr>
            <a:r>
              <a:rPr lang="en-US" sz="1600" b="1" dirty="0">
                <a:solidFill>
                  <a:srgbClr val="1A1A1A"/>
                </a:solidFill>
                <a:latin typeface="Times New Roman" panose="02020603050405020304" pitchFamily="18" charset="0"/>
                <a:ea typeface="Calibri" pitchFamily="34" charset="-122"/>
                <a:cs typeface="Times New Roman" panose="02020603050405020304" pitchFamily="18" charset="0"/>
              </a:rPr>
              <a:t>Consistency Checks</a:t>
            </a:r>
            <a:endParaRPr lang="en-US" sz="1600" dirty="0">
              <a:latin typeface="Times New Roman" panose="02020603050405020304" pitchFamily="18" charset="0"/>
              <a:cs typeface="Times New Roman" panose="02020603050405020304" pitchFamily="18" charset="0"/>
            </a:endParaRPr>
          </a:p>
        </p:txBody>
      </p:sp>
      <p:sp>
        <p:nvSpPr>
          <p:cNvPr id="32" name="Text 30"/>
          <p:cNvSpPr/>
          <p:nvPr/>
        </p:nvSpPr>
        <p:spPr>
          <a:xfrm>
            <a:off x="8229600" y="4937760"/>
            <a:ext cx="3200400" cy="960120"/>
          </a:xfrm>
          <a:prstGeom prst="rect">
            <a:avLst/>
          </a:prstGeom>
          <a:noFill/>
          <a:ln/>
        </p:spPr>
        <p:txBody>
          <a:bodyPr wrap="square" rtlCol="0" anchor="ctr"/>
          <a:lstStyle/>
          <a:p>
            <a:pPr marL="0" indent="0">
              <a:lnSpc>
                <a:spcPct val="115000"/>
              </a:lnSpc>
              <a:buNone/>
            </a:pPr>
            <a:r>
              <a:rPr lang="en-US" sz="1600" dirty="0">
                <a:solidFill>
                  <a:srgbClr val="3A3A3A"/>
                </a:solidFill>
                <a:latin typeface="Times New Roman" panose="02020603050405020304" pitchFamily="18" charset="0"/>
                <a:ea typeface="Calibri" pitchFamily="34" charset="-122"/>
                <a:cs typeface="Times New Roman" panose="02020603050405020304" pitchFamily="18" charset="0"/>
              </a:rPr>
              <a:t>Standardized RAM/SSD labels (e.g. "8 GB LPDDR4X RAM" → "8 GB") for reliable grouping.</a:t>
            </a:r>
            <a:endParaRPr lang="en-US" sz="1600" dirty="0">
              <a:latin typeface="Times New Roman" panose="02020603050405020304" pitchFamily="18" charset="0"/>
              <a:cs typeface="Times New Roman" panose="02020603050405020304" pitchFamily="18" charset="0"/>
            </a:endParaRPr>
          </a:p>
        </p:txBody>
      </p:sp>
      <p:sp>
        <p:nvSpPr>
          <p:cNvPr id="34" name="Text 32"/>
          <p:cNvSpPr/>
          <p:nvPr/>
        </p:nvSpPr>
        <p:spPr>
          <a:xfrm>
            <a:off x="11274552" y="6537960"/>
            <a:ext cx="45720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621792"/>
            <a:ext cx="10515600" cy="731520"/>
          </a:xfrm>
          <a:prstGeom prst="rect">
            <a:avLst/>
          </a:prstGeom>
          <a:noFill/>
          <a:ln/>
        </p:spPr>
        <p:txBody>
          <a:bodyPr wrap="square"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Price Distribution</a:t>
            </a:r>
            <a:endParaRPr lang="en-US" sz="3000" dirty="0"/>
          </a:p>
        </p:txBody>
      </p:sp>
      <p:graphicFrame>
        <p:nvGraphicFramePr>
          <p:cNvPr id="4" name="Chart 0"/>
          <p:cNvGraphicFramePr/>
          <p:nvPr/>
        </p:nvGraphicFramePr>
        <p:xfrm>
          <a:off x="548640" y="1417320"/>
          <a:ext cx="7406640" cy="489204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8229600" y="1554480"/>
            <a:ext cx="3429000" cy="1280160"/>
          </a:xfrm>
          <a:prstGeom prst="rect">
            <a:avLst/>
          </a:prstGeom>
          <a:solidFill>
            <a:srgbClr val="1A1A1A"/>
          </a:solidFill>
          <a:ln/>
        </p:spPr>
        <p:txBody>
          <a:bodyPr/>
          <a:lstStyle/>
          <a:p>
            <a:endParaRPr lang="en-IN"/>
          </a:p>
        </p:txBody>
      </p:sp>
      <p:sp>
        <p:nvSpPr>
          <p:cNvPr id="6" name="Text 3"/>
          <p:cNvSpPr/>
          <p:nvPr/>
        </p:nvSpPr>
        <p:spPr>
          <a:xfrm>
            <a:off x="8412480" y="1691640"/>
            <a:ext cx="3063240" cy="640080"/>
          </a:xfrm>
          <a:prstGeom prst="rect">
            <a:avLst/>
          </a:prstGeom>
          <a:noFill/>
          <a:ln/>
        </p:spPr>
        <p:txBody>
          <a:bodyPr wrap="square" rtlCol="0" anchor="ctr"/>
          <a:lstStyle/>
          <a:p>
            <a:pPr marL="0" indent="0">
              <a:buNone/>
            </a:pPr>
            <a:r>
              <a:rPr lang="en-US" sz="2600" b="1" dirty="0">
                <a:solidFill>
                  <a:srgbClr val="C8102E"/>
                </a:solidFill>
                <a:latin typeface="Cambria" pitchFamily="34" charset="0"/>
                <a:ea typeface="Cambria" pitchFamily="34" charset="-122"/>
                <a:cs typeface="Cambria" pitchFamily="34" charset="-120"/>
              </a:rPr>
              <a:t>₹18,000</a:t>
            </a:r>
            <a:endParaRPr lang="en-US" sz="2600" dirty="0"/>
          </a:p>
        </p:txBody>
      </p:sp>
      <p:sp>
        <p:nvSpPr>
          <p:cNvPr id="7" name="Text 4"/>
          <p:cNvSpPr/>
          <p:nvPr/>
        </p:nvSpPr>
        <p:spPr>
          <a:xfrm>
            <a:off x="8412480" y="2331720"/>
            <a:ext cx="3063240" cy="365760"/>
          </a:xfrm>
          <a:prstGeom prst="rect">
            <a:avLst/>
          </a:prstGeom>
          <a:noFill/>
          <a:ln/>
        </p:spPr>
        <p:txBody>
          <a:bodyPr wrap="square" rtlCol="0" anchor="ctr"/>
          <a:lstStyle/>
          <a:p>
            <a:pPr marL="0" indent="0">
              <a:buNone/>
            </a:pPr>
            <a:r>
              <a:rPr lang="en-US" dirty="0">
                <a:solidFill>
                  <a:srgbClr val="FFFFFF"/>
                </a:solidFill>
                <a:latin typeface="Calibri" pitchFamily="34" charset="0"/>
                <a:ea typeface="Calibri" pitchFamily="34" charset="-122"/>
                <a:cs typeface="Calibri" pitchFamily="34" charset="-120"/>
              </a:rPr>
              <a:t>Minimum Price</a:t>
            </a:r>
            <a:endParaRPr lang="en-US" dirty="0"/>
          </a:p>
        </p:txBody>
      </p:sp>
      <p:sp>
        <p:nvSpPr>
          <p:cNvPr id="8" name="Shape 5"/>
          <p:cNvSpPr/>
          <p:nvPr/>
        </p:nvSpPr>
        <p:spPr>
          <a:xfrm>
            <a:off x="8229600" y="3063240"/>
            <a:ext cx="3429000" cy="1280160"/>
          </a:xfrm>
          <a:prstGeom prst="rect">
            <a:avLst/>
          </a:prstGeom>
          <a:solidFill>
            <a:srgbClr val="1A1A1A"/>
          </a:solidFill>
          <a:ln/>
        </p:spPr>
        <p:txBody>
          <a:bodyPr/>
          <a:lstStyle/>
          <a:p>
            <a:endParaRPr lang="en-IN"/>
          </a:p>
        </p:txBody>
      </p:sp>
      <p:sp>
        <p:nvSpPr>
          <p:cNvPr id="9" name="Text 6"/>
          <p:cNvSpPr/>
          <p:nvPr/>
        </p:nvSpPr>
        <p:spPr>
          <a:xfrm>
            <a:off x="8412480" y="3200400"/>
            <a:ext cx="3063240" cy="640080"/>
          </a:xfrm>
          <a:prstGeom prst="rect">
            <a:avLst/>
          </a:prstGeom>
          <a:noFill/>
          <a:ln/>
        </p:spPr>
        <p:txBody>
          <a:bodyPr wrap="square" rtlCol="0" anchor="ctr"/>
          <a:lstStyle/>
          <a:p>
            <a:pPr marL="0" indent="0">
              <a:buNone/>
            </a:pPr>
            <a:r>
              <a:rPr lang="en-US" sz="2600" b="1" dirty="0">
                <a:solidFill>
                  <a:srgbClr val="C8102E"/>
                </a:solidFill>
                <a:latin typeface="Cambria" pitchFamily="34" charset="0"/>
                <a:ea typeface="Cambria" pitchFamily="34" charset="-122"/>
                <a:cs typeface="Cambria" pitchFamily="34" charset="-120"/>
              </a:rPr>
              <a:t>₹48,990</a:t>
            </a:r>
            <a:endParaRPr lang="en-US" sz="2600" dirty="0"/>
          </a:p>
        </p:txBody>
      </p:sp>
      <p:sp>
        <p:nvSpPr>
          <p:cNvPr id="10" name="Text 7"/>
          <p:cNvSpPr/>
          <p:nvPr/>
        </p:nvSpPr>
        <p:spPr>
          <a:xfrm>
            <a:off x="8412480" y="3840480"/>
            <a:ext cx="3063240" cy="365760"/>
          </a:xfrm>
          <a:prstGeom prst="rect">
            <a:avLst/>
          </a:prstGeom>
          <a:noFill/>
          <a:ln/>
        </p:spPr>
        <p:txBody>
          <a:bodyPr wrap="square" rtlCol="0" anchor="ctr"/>
          <a:lstStyle/>
          <a:p>
            <a:pPr marL="0" indent="0">
              <a:buNone/>
            </a:pPr>
            <a:r>
              <a:rPr lang="en-US" dirty="0">
                <a:solidFill>
                  <a:srgbClr val="FFFFFF"/>
                </a:solidFill>
                <a:latin typeface="Calibri" pitchFamily="34" charset="0"/>
                <a:ea typeface="Calibri" pitchFamily="34" charset="-122"/>
                <a:cs typeface="Calibri" pitchFamily="34" charset="-120"/>
              </a:rPr>
              <a:t>Median Price</a:t>
            </a:r>
            <a:endParaRPr lang="en-US" dirty="0"/>
          </a:p>
        </p:txBody>
      </p:sp>
      <p:sp>
        <p:nvSpPr>
          <p:cNvPr id="11" name="Shape 8"/>
          <p:cNvSpPr/>
          <p:nvPr/>
        </p:nvSpPr>
        <p:spPr>
          <a:xfrm>
            <a:off x="8229600" y="4572000"/>
            <a:ext cx="3429000" cy="1280160"/>
          </a:xfrm>
          <a:prstGeom prst="rect">
            <a:avLst/>
          </a:prstGeom>
          <a:solidFill>
            <a:srgbClr val="1A1A1A"/>
          </a:solidFill>
          <a:ln/>
        </p:spPr>
        <p:txBody>
          <a:bodyPr/>
          <a:lstStyle/>
          <a:p>
            <a:endParaRPr lang="en-IN"/>
          </a:p>
        </p:txBody>
      </p:sp>
      <p:sp>
        <p:nvSpPr>
          <p:cNvPr id="12" name="Text 9"/>
          <p:cNvSpPr/>
          <p:nvPr/>
        </p:nvSpPr>
        <p:spPr>
          <a:xfrm>
            <a:off x="8412480" y="4709160"/>
            <a:ext cx="3063240" cy="640080"/>
          </a:xfrm>
          <a:prstGeom prst="rect">
            <a:avLst/>
          </a:prstGeom>
          <a:noFill/>
          <a:ln/>
        </p:spPr>
        <p:txBody>
          <a:bodyPr wrap="square" rtlCol="0" anchor="ctr"/>
          <a:lstStyle/>
          <a:p>
            <a:pPr marL="0" indent="0">
              <a:buNone/>
            </a:pPr>
            <a:r>
              <a:rPr lang="en-US" sz="2600" b="1" dirty="0">
                <a:solidFill>
                  <a:srgbClr val="C8102E"/>
                </a:solidFill>
                <a:latin typeface="Cambria" pitchFamily="34" charset="0"/>
                <a:ea typeface="Cambria" pitchFamily="34" charset="-122"/>
                <a:cs typeface="Cambria" pitchFamily="34" charset="-120"/>
              </a:rPr>
              <a:t>₹99,990</a:t>
            </a:r>
            <a:endParaRPr lang="en-US" sz="2600" dirty="0"/>
          </a:p>
        </p:txBody>
      </p:sp>
      <p:sp>
        <p:nvSpPr>
          <p:cNvPr id="13" name="Text 10"/>
          <p:cNvSpPr/>
          <p:nvPr/>
        </p:nvSpPr>
        <p:spPr>
          <a:xfrm>
            <a:off x="8412480" y="5349240"/>
            <a:ext cx="3063240" cy="365760"/>
          </a:xfrm>
          <a:prstGeom prst="rect">
            <a:avLst/>
          </a:prstGeom>
          <a:noFill/>
          <a:ln/>
        </p:spPr>
        <p:txBody>
          <a:bodyPr wrap="square" rtlCol="0" anchor="ctr"/>
          <a:lstStyle/>
          <a:p>
            <a:pPr marL="0" indent="0">
              <a:buNone/>
            </a:pPr>
            <a:r>
              <a:rPr lang="en-US" dirty="0">
                <a:solidFill>
                  <a:srgbClr val="FFFFFF"/>
                </a:solidFill>
                <a:latin typeface="Calibri" pitchFamily="34" charset="0"/>
                <a:ea typeface="Calibri" pitchFamily="34" charset="-122"/>
                <a:cs typeface="Calibri" pitchFamily="34" charset="-120"/>
              </a:rPr>
              <a:t>Maximum Price</a:t>
            </a:r>
            <a:endParaRPr lang="en-US" dirty="0"/>
          </a:p>
        </p:txBody>
      </p:sp>
      <p:sp>
        <p:nvSpPr>
          <p:cNvPr id="15" name="Text 12"/>
          <p:cNvSpPr/>
          <p:nvPr/>
        </p:nvSpPr>
        <p:spPr>
          <a:xfrm>
            <a:off x="457200" y="6537960"/>
            <a:ext cx="5486400" cy="274320"/>
          </a:xfrm>
          <a:prstGeom prst="rect">
            <a:avLst/>
          </a:prstGeom>
          <a:noFill/>
          <a:ln/>
        </p:spPr>
        <p:txBody>
          <a:bodyPr wrap="square"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INNOMATICS RESEARCH LABS</a:t>
            </a:r>
            <a:endParaRPr lang="en-US" sz="900" dirty="0"/>
          </a:p>
        </p:txBody>
      </p:sp>
      <p:sp>
        <p:nvSpPr>
          <p:cNvPr id="16" name="Text 13"/>
          <p:cNvSpPr/>
          <p:nvPr/>
        </p:nvSpPr>
        <p:spPr>
          <a:xfrm>
            <a:off x="11274552" y="6537960"/>
            <a:ext cx="45720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7</a:t>
            </a:r>
            <a:endParaRPr lang="en-US" sz="900" dirty="0"/>
          </a:p>
        </p:txBody>
      </p:sp>
      <p:pic>
        <p:nvPicPr>
          <p:cNvPr id="14" name="Picture 13">
            <a:extLst>
              <a:ext uri="{FF2B5EF4-FFF2-40B4-BE49-F238E27FC236}">
                <a16:creationId xmlns:a16="http://schemas.microsoft.com/office/drawing/2014/main" id="{3EDC723B-BBA6-922B-6EAB-0C01D8D8A399}"/>
              </a:ext>
            </a:extLst>
          </p:cNvPr>
          <p:cNvPicPr>
            <a:picLocks noChangeAspect="1"/>
          </p:cNvPicPr>
          <p:nvPr/>
        </p:nvPicPr>
        <p:blipFill>
          <a:blip r:embed="rId4"/>
          <a:stretch>
            <a:fillRect/>
          </a:stretch>
        </p:blipFill>
        <p:spPr>
          <a:xfrm>
            <a:off x="320025" y="1723640"/>
            <a:ext cx="7772415" cy="42794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621792"/>
            <a:ext cx="10515600" cy="731520"/>
          </a:xfrm>
          <a:prstGeom prst="rect">
            <a:avLst/>
          </a:prstGeom>
          <a:noFill/>
          <a:ln/>
        </p:spPr>
        <p:txBody>
          <a:bodyPr wrap="square"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Brand Landscape</a:t>
            </a:r>
            <a:endParaRPr lang="en-US" sz="3000" dirty="0"/>
          </a:p>
        </p:txBody>
      </p:sp>
      <p:sp>
        <p:nvSpPr>
          <p:cNvPr id="5" name="Shape 2"/>
          <p:cNvSpPr/>
          <p:nvPr/>
        </p:nvSpPr>
        <p:spPr>
          <a:xfrm>
            <a:off x="7772400" y="1417320"/>
            <a:ext cx="3886200" cy="2286000"/>
          </a:xfrm>
          <a:prstGeom prst="rect">
            <a:avLst/>
          </a:prstGeom>
          <a:solidFill>
            <a:srgbClr val="C8102E"/>
          </a:solidFill>
          <a:ln/>
        </p:spPr>
        <p:txBody>
          <a:bodyPr/>
          <a:lstStyle/>
          <a:p>
            <a:endParaRPr lang="en-IN"/>
          </a:p>
        </p:txBody>
      </p:sp>
      <p:sp>
        <p:nvSpPr>
          <p:cNvPr id="6" name="Text 3"/>
          <p:cNvSpPr/>
          <p:nvPr/>
        </p:nvSpPr>
        <p:spPr>
          <a:xfrm>
            <a:off x="7772400" y="1645920"/>
            <a:ext cx="3886200" cy="822960"/>
          </a:xfrm>
          <a:prstGeom prst="rect">
            <a:avLst/>
          </a:prstGeom>
          <a:noFill/>
          <a:ln/>
        </p:spPr>
        <p:txBody>
          <a:bodyPr wrap="square" rtlCol="0" anchor="ctr"/>
          <a:lstStyle/>
          <a:p>
            <a:pPr marL="0" indent="0" algn="ctr">
              <a:buNone/>
            </a:pPr>
            <a:r>
              <a:rPr lang="en-US" sz="3400" b="1" dirty="0">
                <a:solidFill>
                  <a:srgbClr val="FFFFFF"/>
                </a:solidFill>
                <a:latin typeface="Cambria" pitchFamily="34" charset="0"/>
                <a:ea typeface="Cambria" pitchFamily="34" charset="-122"/>
                <a:cs typeface="Cambria" pitchFamily="34" charset="-120"/>
              </a:rPr>
              <a:t>SAMSUNG</a:t>
            </a:r>
            <a:endParaRPr lang="en-US" sz="3400" dirty="0"/>
          </a:p>
        </p:txBody>
      </p:sp>
      <p:sp>
        <p:nvSpPr>
          <p:cNvPr id="7" name="Text 4"/>
          <p:cNvSpPr/>
          <p:nvPr/>
        </p:nvSpPr>
        <p:spPr>
          <a:xfrm>
            <a:off x="7955280" y="2423160"/>
            <a:ext cx="3520440" cy="822960"/>
          </a:xfrm>
          <a:prstGeom prst="rect">
            <a:avLst/>
          </a:prstGeom>
          <a:noFill/>
          <a:ln/>
        </p:spPr>
        <p:txBody>
          <a:bodyPr wrap="square" rtlCol="0" anchor="ctr"/>
          <a:lstStyle/>
          <a:p>
            <a:pPr marL="0" indent="0" algn="ctr">
              <a:buNone/>
            </a:pPr>
            <a:r>
              <a:rPr lang="en-US" dirty="0">
                <a:solidFill>
                  <a:srgbClr val="FFFFFF"/>
                </a:solidFill>
                <a:latin typeface="Times New Roman" panose="02020603050405020304" pitchFamily="18" charset="0"/>
                <a:ea typeface="Calibri" pitchFamily="34" charset="-122"/>
                <a:cs typeface="Times New Roman" panose="02020603050405020304" pitchFamily="18" charset="0"/>
              </a:rPr>
              <a:t>leads the market with 117 listings</a:t>
            </a:r>
            <a:endParaRPr lang="en-US" dirty="0">
              <a:latin typeface="Times New Roman" panose="02020603050405020304" pitchFamily="18" charset="0"/>
              <a:cs typeface="Times New Roman" panose="02020603050405020304" pitchFamily="18" charset="0"/>
            </a:endParaRPr>
          </a:p>
        </p:txBody>
      </p:sp>
      <p:sp>
        <p:nvSpPr>
          <p:cNvPr id="8" name="Shape 5"/>
          <p:cNvSpPr/>
          <p:nvPr/>
        </p:nvSpPr>
        <p:spPr>
          <a:xfrm>
            <a:off x="7684788" y="3886200"/>
            <a:ext cx="3886200" cy="2423160"/>
          </a:xfrm>
          <a:prstGeom prst="rect">
            <a:avLst/>
          </a:prstGeom>
          <a:solidFill>
            <a:srgbClr val="F2F2F2"/>
          </a:solidFill>
          <a:ln/>
        </p:spPr>
        <p:txBody>
          <a:bodyPr/>
          <a:lstStyle/>
          <a:p>
            <a:endParaRPr lang="en-IN"/>
          </a:p>
        </p:txBody>
      </p:sp>
      <p:sp>
        <p:nvSpPr>
          <p:cNvPr id="9" name="Text 6"/>
          <p:cNvSpPr/>
          <p:nvPr/>
        </p:nvSpPr>
        <p:spPr>
          <a:xfrm>
            <a:off x="8001000" y="4069080"/>
            <a:ext cx="3474720" cy="365760"/>
          </a:xfrm>
          <a:prstGeom prst="rect">
            <a:avLst/>
          </a:prstGeom>
          <a:noFill/>
          <a:ln/>
        </p:spPr>
        <p:txBody>
          <a:bodyPr wrap="square" rtlCol="0" anchor="ctr"/>
          <a:lstStyle/>
          <a:p>
            <a:pPr marL="0" indent="0">
              <a:buNone/>
            </a:pPr>
            <a:r>
              <a:rPr lang="en-US" sz="1350" b="1" dirty="0">
                <a:solidFill>
                  <a:srgbClr val="C8102E"/>
                </a:solidFill>
                <a:latin typeface="Calibri" pitchFamily="34" charset="0"/>
                <a:ea typeface="Calibri" pitchFamily="34" charset="-122"/>
                <a:cs typeface="Calibri" pitchFamily="34" charset="-120"/>
              </a:rPr>
              <a:t>Why it matters</a:t>
            </a:r>
            <a:endParaRPr lang="en-US" sz="1350" dirty="0"/>
          </a:p>
        </p:txBody>
      </p:sp>
      <p:sp>
        <p:nvSpPr>
          <p:cNvPr id="10" name="Text 7"/>
          <p:cNvSpPr/>
          <p:nvPr/>
        </p:nvSpPr>
        <p:spPr>
          <a:xfrm>
            <a:off x="8001000" y="4434840"/>
            <a:ext cx="3474720" cy="1737360"/>
          </a:xfrm>
          <a:prstGeom prst="rect">
            <a:avLst/>
          </a:prstGeom>
          <a:noFill/>
          <a:ln/>
        </p:spPr>
        <p:txBody>
          <a:bodyPr wrap="square" rtlCol="0" anchor="ctr"/>
          <a:lstStyle/>
          <a:p>
            <a:pPr algn="just">
              <a:lnSpc>
                <a:spcPct val="120000"/>
              </a:lnSpc>
            </a:pPr>
            <a:r>
              <a:rPr lang="en-US" sz="1400" dirty="0">
                <a:solidFill>
                  <a:srgbClr val="3A3A3A"/>
                </a:solidFill>
                <a:latin typeface="Times New Roman" panose="02020603050405020304" pitchFamily="18" charset="0"/>
                <a:ea typeface="Calibri" pitchFamily="34" charset="-122"/>
                <a:cs typeface="Times New Roman" panose="02020603050405020304" pitchFamily="18" charset="0"/>
              </a:rPr>
              <a:t>Samsung, Acer and ASUS together account for the vast majority of listings, indicating a market dominated by a handful of high-volume brands rather than an even spread across manufacturers.</a:t>
            </a:r>
            <a:endParaRPr lang="en-US" sz="1400" dirty="0">
              <a:latin typeface="Times New Roman" panose="02020603050405020304" pitchFamily="18" charset="0"/>
              <a:cs typeface="Times New Roman" panose="02020603050405020304" pitchFamily="18" charset="0"/>
            </a:endParaRPr>
          </a:p>
        </p:txBody>
      </p:sp>
      <p:sp>
        <p:nvSpPr>
          <p:cNvPr id="11" name="Text 8"/>
          <p:cNvSpPr/>
          <p:nvPr/>
        </p:nvSpPr>
        <p:spPr>
          <a:xfrm>
            <a:off x="457200" y="6537960"/>
            <a:ext cx="5486400" cy="274320"/>
          </a:xfrm>
          <a:prstGeom prst="rect">
            <a:avLst/>
          </a:prstGeom>
          <a:noFill/>
          <a:ln/>
        </p:spPr>
        <p:txBody>
          <a:bodyPr wrap="square"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INNOMATICS RESEARCH LABS</a:t>
            </a:r>
            <a:endParaRPr lang="en-US" sz="900" dirty="0"/>
          </a:p>
        </p:txBody>
      </p:sp>
      <p:sp>
        <p:nvSpPr>
          <p:cNvPr id="12" name="Text 9"/>
          <p:cNvSpPr/>
          <p:nvPr/>
        </p:nvSpPr>
        <p:spPr>
          <a:xfrm>
            <a:off x="11274552" y="6537960"/>
            <a:ext cx="45720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8</a:t>
            </a:r>
            <a:endParaRPr lang="en-US" sz="900" dirty="0"/>
          </a:p>
        </p:txBody>
      </p:sp>
      <p:pic>
        <p:nvPicPr>
          <p:cNvPr id="14" name="Picture 13">
            <a:extLst>
              <a:ext uri="{FF2B5EF4-FFF2-40B4-BE49-F238E27FC236}">
                <a16:creationId xmlns:a16="http://schemas.microsoft.com/office/drawing/2014/main" id="{6D005ABB-92CE-F9D5-44E2-285087268BE5}"/>
              </a:ext>
            </a:extLst>
          </p:cNvPr>
          <p:cNvPicPr>
            <a:picLocks noChangeAspect="1"/>
          </p:cNvPicPr>
          <p:nvPr/>
        </p:nvPicPr>
        <p:blipFill>
          <a:blip r:embed="rId3"/>
          <a:stretch>
            <a:fillRect/>
          </a:stretch>
        </p:blipFill>
        <p:spPr>
          <a:xfrm>
            <a:off x="457200" y="1645920"/>
            <a:ext cx="6628986" cy="342818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621792"/>
            <a:ext cx="10515600" cy="731520"/>
          </a:xfrm>
          <a:prstGeom prst="rect">
            <a:avLst/>
          </a:prstGeom>
          <a:noFill/>
          <a:ln/>
        </p:spPr>
        <p:txBody>
          <a:bodyPr wrap="square"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RAM &amp; Rating Distribution</a:t>
            </a:r>
            <a:endParaRPr lang="en-US" sz="3000" dirty="0"/>
          </a:p>
        </p:txBody>
      </p:sp>
      <p:sp>
        <p:nvSpPr>
          <p:cNvPr id="4" name="Text 2"/>
          <p:cNvSpPr/>
          <p:nvPr/>
        </p:nvSpPr>
        <p:spPr>
          <a:xfrm>
            <a:off x="548640" y="1371600"/>
            <a:ext cx="5303520" cy="365760"/>
          </a:xfrm>
          <a:prstGeom prst="rect">
            <a:avLst/>
          </a:prstGeom>
          <a:noFill/>
          <a:ln/>
        </p:spPr>
        <p:txBody>
          <a:bodyPr wrap="square" rtlCol="0" anchor="ctr"/>
          <a:lstStyle/>
          <a:p>
            <a:pPr marL="0" indent="0">
              <a:buNone/>
            </a:pPr>
            <a:r>
              <a:rPr lang="en-US" sz="1600" b="1" dirty="0">
                <a:solidFill>
                  <a:srgbClr val="C8102E"/>
                </a:solidFill>
                <a:latin typeface="Calibri" pitchFamily="34" charset="0"/>
                <a:ea typeface="Calibri" pitchFamily="34" charset="-122"/>
                <a:cs typeface="Calibri" pitchFamily="34" charset="-120"/>
              </a:rPr>
              <a:t>RAM Configuration</a:t>
            </a:r>
            <a:endParaRPr lang="en-US" sz="1600" dirty="0"/>
          </a:p>
        </p:txBody>
      </p:sp>
      <p:sp>
        <p:nvSpPr>
          <p:cNvPr id="8" name="Shape 4"/>
          <p:cNvSpPr/>
          <p:nvPr/>
        </p:nvSpPr>
        <p:spPr>
          <a:xfrm>
            <a:off x="457200" y="6263640"/>
            <a:ext cx="11247120" cy="91"/>
          </a:xfrm>
          <a:prstGeom prst="rect">
            <a:avLst/>
          </a:prstGeom>
          <a:noFill/>
          <a:ln/>
        </p:spPr>
        <p:txBody>
          <a:bodyPr/>
          <a:lstStyle/>
          <a:p>
            <a:endParaRPr lang="en-IN"/>
          </a:p>
        </p:txBody>
      </p:sp>
      <p:sp>
        <p:nvSpPr>
          <p:cNvPr id="9" name="Text 5"/>
          <p:cNvSpPr/>
          <p:nvPr/>
        </p:nvSpPr>
        <p:spPr>
          <a:xfrm>
            <a:off x="640080" y="5807594"/>
            <a:ext cx="11064240" cy="457200"/>
          </a:xfrm>
          <a:prstGeom prst="rect">
            <a:avLst/>
          </a:prstGeom>
          <a:noFill/>
          <a:ln/>
        </p:spPr>
        <p:txBody>
          <a:bodyPr wrap="square" rtlCol="0" anchor="ctr"/>
          <a:lstStyle/>
          <a:p>
            <a:pPr marL="0" indent="0">
              <a:buNone/>
            </a:pPr>
            <a:r>
              <a:rPr lang="en-US" sz="1150" b="1" i="1" dirty="0">
                <a:solidFill>
                  <a:srgbClr val="FF0000"/>
                </a:solidFill>
                <a:latin typeface="Times New Roman" panose="02020603050405020304" pitchFamily="18" charset="0"/>
                <a:ea typeface="Calibri" pitchFamily="34" charset="-122"/>
                <a:cs typeface="Times New Roman" panose="02020603050405020304" pitchFamily="18" charset="0"/>
              </a:rPr>
              <a:t>Insight: 8 GB RAM is now the single most common configuration.</a:t>
            </a:r>
            <a:endParaRPr lang="en-US" sz="1150" b="1" dirty="0">
              <a:solidFill>
                <a:srgbClr val="FF0000"/>
              </a:solidFill>
              <a:latin typeface="Times New Roman" panose="02020603050405020304" pitchFamily="18" charset="0"/>
              <a:cs typeface="Times New Roman" panose="02020603050405020304" pitchFamily="18" charset="0"/>
            </a:endParaRPr>
          </a:p>
        </p:txBody>
      </p:sp>
      <p:sp>
        <p:nvSpPr>
          <p:cNvPr id="11" name="Text 7"/>
          <p:cNvSpPr/>
          <p:nvPr/>
        </p:nvSpPr>
        <p:spPr>
          <a:xfrm>
            <a:off x="11274552" y="6537960"/>
            <a:ext cx="45720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9</a:t>
            </a:r>
            <a:endParaRPr lang="en-US" sz="900" dirty="0"/>
          </a:p>
        </p:txBody>
      </p:sp>
      <p:pic>
        <p:nvPicPr>
          <p:cNvPr id="10" name="Picture 9">
            <a:extLst>
              <a:ext uri="{FF2B5EF4-FFF2-40B4-BE49-F238E27FC236}">
                <a16:creationId xmlns:a16="http://schemas.microsoft.com/office/drawing/2014/main" id="{D956A8CB-A908-33D3-C310-119D57AB325F}"/>
              </a:ext>
            </a:extLst>
          </p:cNvPr>
          <p:cNvPicPr>
            <a:picLocks noChangeAspect="1"/>
          </p:cNvPicPr>
          <p:nvPr/>
        </p:nvPicPr>
        <p:blipFill>
          <a:blip r:embed="rId3"/>
          <a:stretch>
            <a:fillRect/>
          </a:stretch>
        </p:blipFill>
        <p:spPr>
          <a:xfrm>
            <a:off x="2697702" y="1643768"/>
            <a:ext cx="5859040" cy="3945367"/>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621792"/>
            <a:ext cx="10515600" cy="731520"/>
          </a:xfrm>
          <a:prstGeom prst="rect">
            <a:avLst/>
          </a:prstGeom>
          <a:noFill/>
          <a:ln/>
        </p:spPr>
        <p:txBody>
          <a:bodyPr wrap="square"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Price by Processor &amp; RAM</a:t>
            </a:r>
            <a:endParaRPr lang="en-US" sz="3000" dirty="0"/>
          </a:p>
        </p:txBody>
      </p:sp>
      <p:sp>
        <p:nvSpPr>
          <p:cNvPr id="4" name="Text 2"/>
          <p:cNvSpPr/>
          <p:nvPr/>
        </p:nvSpPr>
        <p:spPr>
          <a:xfrm>
            <a:off x="548640" y="1371600"/>
            <a:ext cx="5303520" cy="365760"/>
          </a:xfrm>
          <a:prstGeom prst="rect">
            <a:avLst/>
          </a:prstGeom>
          <a:noFill/>
          <a:ln/>
        </p:spPr>
        <p:txBody>
          <a:bodyPr wrap="square" rtlCol="0" anchor="ctr"/>
          <a:lstStyle/>
          <a:p>
            <a:pPr marL="0" indent="0">
              <a:buNone/>
            </a:pPr>
            <a:r>
              <a:rPr lang="en-US" sz="1300" b="1" dirty="0">
                <a:solidFill>
                  <a:srgbClr val="C8102E"/>
                </a:solidFill>
                <a:latin typeface="Calibri" pitchFamily="34" charset="0"/>
                <a:ea typeface="Calibri" pitchFamily="34" charset="-122"/>
                <a:cs typeface="Calibri" pitchFamily="34" charset="-120"/>
              </a:rPr>
              <a:t>Top 10 Processors by Avg. Selling Price</a:t>
            </a:r>
            <a:endParaRPr lang="en-US" sz="1300" dirty="0"/>
          </a:p>
        </p:txBody>
      </p:sp>
      <p:sp>
        <p:nvSpPr>
          <p:cNvPr id="6" name="Text 3"/>
          <p:cNvSpPr/>
          <p:nvPr/>
        </p:nvSpPr>
        <p:spPr>
          <a:xfrm>
            <a:off x="6309360" y="1371600"/>
            <a:ext cx="5303520" cy="365760"/>
          </a:xfrm>
          <a:prstGeom prst="rect">
            <a:avLst/>
          </a:prstGeom>
          <a:noFill/>
          <a:ln/>
        </p:spPr>
        <p:txBody>
          <a:bodyPr wrap="square" rtlCol="0" anchor="ctr"/>
          <a:lstStyle/>
          <a:p>
            <a:pPr marL="0" indent="0">
              <a:buNone/>
            </a:pPr>
            <a:r>
              <a:rPr lang="en-US" sz="1300" b="1" dirty="0">
                <a:solidFill>
                  <a:srgbClr val="C8102E"/>
                </a:solidFill>
                <a:latin typeface="Calibri" pitchFamily="34" charset="0"/>
                <a:ea typeface="Calibri" pitchFamily="34" charset="-122"/>
                <a:cs typeface="Calibri" pitchFamily="34" charset="-120"/>
              </a:rPr>
              <a:t>Avg. Price by RAM Size</a:t>
            </a:r>
            <a:endParaRPr lang="en-US" sz="1300" dirty="0"/>
          </a:p>
        </p:txBody>
      </p:sp>
      <p:sp>
        <p:nvSpPr>
          <p:cNvPr id="8" name="Text 4"/>
          <p:cNvSpPr/>
          <p:nvPr/>
        </p:nvSpPr>
        <p:spPr>
          <a:xfrm>
            <a:off x="653336" y="5765582"/>
            <a:ext cx="11064240" cy="365760"/>
          </a:xfrm>
          <a:prstGeom prst="rect">
            <a:avLst/>
          </a:prstGeom>
          <a:noFill/>
          <a:ln/>
        </p:spPr>
        <p:txBody>
          <a:bodyPr wrap="square" rtlCol="0" anchor="ctr"/>
          <a:lstStyle/>
          <a:p>
            <a:pPr marL="0" indent="0">
              <a:buNone/>
            </a:pPr>
            <a:r>
              <a:rPr lang="en-US" sz="1150" b="1" i="1" dirty="0">
                <a:solidFill>
                  <a:srgbClr val="FF0000"/>
                </a:solidFill>
                <a:latin typeface="Times New Roman" panose="02020603050405020304" pitchFamily="18" charset="0"/>
                <a:ea typeface="Calibri" pitchFamily="34" charset="-122"/>
                <a:cs typeface="Times New Roman" panose="02020603050405020304" pitchFamily="18" charset="0"/>
              </a:rPr>
              <a:t>Insight: Average selling price climbs steadily with RAM size, confirming RAM as one of the strongest price drivers across listings.</a:t>
            </a:r>
            <a:endParaRPr lang="en-US" sz="1150" b="1" dirty="0">
              <a:solidFill>
                <a:srgbClr val="FF0000"/>
              </a:solidFill>
              <a:latin typeface="Times New Roman" panose="02020603050405020304" pitchFamily="18" charset="0"/>
              <a:cs typeface="Times New Roman" panose="02020603050405020304" pitchFamily="18" charset="0"/>
            </a:endParaRPr>
          </a:p>
        </p:txBody>
      </p:sp>
      <p:sp>
        <p:nvSpPr>
          <p:cNvPr id="10" name="Text 6"/>
          <p:cNvSpPr/>
          <p:nvPr/>
        </p:nvSpPr>
        <p:spPr>
          <a:xfrm>
            <a:off x="11274552" y="6537960"/>
            <a:ext cx="45720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10</a:t>
            </a:r>
            <a:endParaRPr lang="en-US" sz="900" dirty="0"/>
          </a:p>
        </p:txBody>
      </p:sp>
      <p:pic>
        <p:nvPicPr>
          <p:cNvPr id="9" name="Picture 8">
            <a:extLst>
              <a:ext uri="{FF2B5EF4-FFF2-40B4-BE49-F238E27FC236}">
                <a16:creationId xmlns:a16="http://schemas.microsoft.com/office/drawing/2014/main" id="{4A7A1455-E8B5-8BF8-4DB5-CB7F2DD27862}"/>
              </a:ext>
            </a:extLst>
          </p:cNvPr>
          <p:cNvPicPr>
            <a:picLocks noChangeAspect="1"/>
          </p:cNvPicPr>
          <p:nvPr/>
        </p:nvPicPr>
        <p:blipFill>
          <a:blip r:embed="rId3"/>
          <a:stretch>
            <a:fillRect/>
          </a:stretch>
        </p:blipFill>
        <p:spPr>
          <a:xfrm>
            <a:off x="487680" y="1783080"/>
            <a:ext cx="5303521" cy="3822482"/>
          </a:xfrm>
          <a:prstGeom prst="rect">
            <a:avLst/>
          </a:prstGeom>
        </p:spPr>
      </p:pic>
      <p:pic>
        <p:nvPicPr>
          <p:cNvPr id="11" name="Picture 10">
            <a:extLst>
              <a:ext uri="{FF2B5EF4-FFF2-40B4-BE49-F238E27FC236}">
                <a16:creationId xmlns:a16="http://schemas.microsoft.com/office/drawing/2014/main" id="{3DD7D55C-AED9-A7C3-64B0-DB40B6C00FB8}"/>
              </a:ext>
            </a:extLst>
          </p:cNvPr>
          <p:cNvPicPr>
            <a:picLocks noChangeAspect="1"/>
          </p:cNvPicPr>
          <p:nvPr/>
        </p:nvPicPr>
        <p:blipFill>
          <a:blip r:embed="rId4"/>
          <a:stretch>
            <a:fillRect/>
          </a:stretch>
        </p:blipFill>
        <p:spPr>
          <a:xfrm>
            <a:off x="5867046" y="1927253"/>
            <a:ext cx="6041419" cy="355914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621792"/>
            <a:ext cx="10515600" cy="731520"/>
          </a:xfrm>
          <a:prstGeom prst="rect">
            <a:avLst/>
          </a:prstGeom>
          <a:noFill/>
          <a:ln/>
        </p:spPr>
        <p:txBody>
          <a:bodyPr wrap="square"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Price, Discount &amp; Rating — Correlation</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4148086640"/>
              </p:ext>
            </p:extLst>
          </p:nvPr>
        </p:nvGraphicFramePr>
        <p:xfrm>
          <a:off x="1604554" y="1591056"/>
          <a:ext cx="5852160" cy="2011680"/>
        </p:xfrm>
        <a:graphic>
          <a:graphicData uri="http://schemas.openxmlformats.org/drawingml/2006/table">
            <a:tbl>
              <a:tblPr/>
              <a:tblGrid>
                <a:gridCol w="173736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502920">
                <a:tc>
                  <a:txBody>
                    <a:bodyPr/>
                    <a:lstStyle/>
                    <a:p>
                      <a:pPr marL="0" indent="0">
                        <a:buNone/>
                      </a:pPr>
                      <a:endParaRPr lang="en-US" sz="15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1A1A1A"/>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Price</a:t>
                      </a:r>
                      <a:endParaRPr lang="en-US" sz="15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1A1A1A"/>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New_Discount</a:t>
                      </a:r>
                      <a:endParaRPr lang="en-US" sz="15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1A1A1A"/>
                    </a:solidFill>
                  </a:tcPr>
                </a:tc>
                <a:tc>
                  <a:txBody>
                    <a:bodyPr/>
                    <a:lstStyle/>
                    <a:p>
                      <a:pPr marL="0" indent="0" algn="ctr">
                        <a:buNone/>
                      </a:pPr>
                      <a:r>
                        <a:rPr lang="en-US" sz="1500" b="1" dirty="0">
                          <a:solidFill>
                            <a:srgbClr val="FFFFFF"/>
                          </a:solidFill>
                          <a:latin typeface="Calibri" pitchFamily="34" charset="0"/>
                          <a:ea typeface="Calibri" pitchFamily="34" charset="-122"/>
                          <a:cs typeface="Calibri" pitchFamily="34" charset="-120"/>
                        </a:rPr>
                        <a:t>Rating</a:t>
                      </a:r>
                      <a:endParaRPr lang="en-US" sz="15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1A1A1A"/>
                    </a:solidFill>
                  </a:tcPr>
                </a:tc>
                <a:extLst>
                  <a:ext uri="{0D108BD9-81ED-4DB2-BD59-A6C34878D82A}">
                    <a16:rowId xmlns:a16="http://schemas.microsoft.com/office/drawing/2014/main" val="10000"/>
                  </a:ext>
                </a:extLst>
              </a:tr>
              <a:tr h="502920">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Price</a:t>
                      </a:r>
                      <a:endParaRPr lang="en-US" sz="15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C8102E"/>
                    </a:solidFill>
                  </a:tcPr>
                </a:tc>
                <a:tc>
                  <a:txBody>
                    <a:bodyPr/>
                    <a:lstStyle/>
                    <a:p>
                      <a:pPr marL="0" indent="0" algn="ctr">
                        <a:buNone/>
                      </a:pPr>
                      <a:r>
                        <a:rPr lang="en-US" sz="1500" dirty="0">
                          <a:solidFill>
                            <a:srgbClr val="3A3A3A"/>
                          </a:solidFill>
                          <a:latin typeface="Calibri" pitchFamily="34" charset="0"/>
                          <a:ea typeface="Calibri" pitchFamily="34" charset="-122"/>
                          <a:cs typeface="Calibri" pitchFamily="34" charset="-120"/>
                        </a:rPr>
                        <a:t>1.00</a:t>
                      </a:r>
                      <a:endParaRPr lang="en-US" sz="15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500" dirty="0">
                          <a:solidFill>
                            <a:srgbClr val="3A3A3A"/>
                          </a:solidFill>
                          <a:latin typeface="Calibri" pitchFamily="34" charset="0"/>
                          <a:ea typeface="Calibri" pitchFamily="34" charset="-122"/>
                          <a:cs typeface="Calibri" pitchFamily="34" charset="-120"/>
                        </a:rPr>
                        <a:t>0.01</a:t>
                      </a:r>
                      <a:endParaRPr lang="en-US" sz="15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500" dirty="0">
                          <a:solidFill>
                            <a:srgbClr val="3A3A3A"/>
                          </a:solidFill>
                          <a:latin typeface="Calibri" pitchFamily="34" charset="0"/>
                          <a:ea typeface="Calibri" pitchFamily="34" charset="-122"/>
                          <a:cs typeface="Calibri" pitchFamily="34" charset="-120"/>
                        </a:rPr>
                        <a:t>0.00</a:t>
                      </a:r>
                      <a:endParaRPr lang="en-US" sz="15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New_Discount</a:t>
                      </a:r>
                      <a:endParaRPr lang="en-US" sz="15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C8102E"/>
                    </a:solidFill>
                  </a:tcPr>
                </a:tc>
                <a:tc>
                  <a:txBody>
                    <a:bodyPr/>
                    <a:lstStyle/>
                    <a:p>
                      <a:pPr marL="0" indent="0" algn="ctr">
                        <a:buNone/>
                      </a:pPr>
                      <a:r>
                        <a:rPr lang="en-US" sz="1500" dirty="0">
                          <a:solidFill>
                            <a:srgbClr val="3A3A3A"/>
                          </a:solidFill>
                          <a:latin typeface="Calibri" pitchFamily="34" charset="0"/>
                          <a:ea typeface="Calibri" pitchFamily="34" charset="-122"/>
                          <a:cs typeface="Calibri" pitchFamily="34" charset="-120"/>
                        </a:rPr>
                        <a:t>0.01</a:t>
                      </a:r>
                      <a:endParaRPr lang="en-US" sz="15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500" dirty="0">
                          <a:solidFill>
                            <a:srgbClr val="3A3A3A"/>
                          </a:solidFill>
                          <a:latin typeface="Calibri" pitchFamily="34" charset="0"/>
                          <a:ea typeface="Calibri" pitchFamily="34" charset="-122"/>
                          <a:cs typeface="Calibri" pitchFamily="34" charset="-120"/>
                        </a:rPr>
                        <a:t>1.00</a:t>
                      </a:r>
                      <a:endParaRPr lang="en-US" sz="15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500" dirty="0">
                          <a:solidFill>
                            <a:srgbClr val="3A3A3A"/>
                          </a:solidFill>
                          <a:latin typeface="Calibri" pitchFamily="34" charset="0"/>
                          <a:ea typeface="Calibri" pitchFamily="34" charset="-122"/>
                          <a:cs typeface="Calibri" pitchFamily="34" charset="-120"/>
                        </a:rPr>
                        <a:t>0.00</a:t>
                      </a:r>
                      <a:endParaRPr lang="en-US" sz="15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500" b="1" dirty="0">
                          <a:solidFill>
                            <a:srgbClr val="FFFFFF"/>
                          </a:solidFill>
                          <a:latin typeface="Calibri" pitchFamily="34" charset="0"/>
                          <a:ea typeface="Calibri" pitchFamily="34" charset="-122"/>
                          <a:cs typeface="Calibri" pitchFamily="34" charset="-120"/>
                        </a:rPr>
                        <a:t>Rating</a:t>
                      </a:r>
                      <a:endParaRPr lang="en-US" sz="15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solidFill>
                      <a:srgbClr val="C8102E"/>
                    </a:solidFill>
                  </a:tcPr>
                </a:tc>
                <a:tc>
                  <a:txBody>
                    <a:bodyPr/>
                    <a:lstStyle/>
                    <a:p>
                      <a:pPr marL="0" indent="0" algn="ctr">
                        <a:buNone/>
                      </a:pPr>
                      <a:r>
                        <a:rPr lang="en-US" sz="1500" dirty="0">
                          <a:solidFill>
                            <a:srgbClr val="3A3A3A"/>
                          </a:solidFill>
                          <a:latin typeface="Calibri" pitchFamily="34" charset="0"/>
                          <a:ea typeface="Calibri" pitchFamily="34" charset="-122"/>
                          <a:cs typeface="Calibri" pitchFamily="34" charset="-120"/>
                        </a:rPr>
                        <a:t>0.00</a:t>
                      </a:r>
                      <a:endParaRPr lang="en-US" sz="15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500" dirty="0">
                          <a:solidFill>
                            <a:srgbClr val="3A3A3A"/>
                          </a:solidFill>
                          <a:latin typeface="Calibri" pitchFamily="34" charset="0"/>
                          <a:ea typeface="Calibri" pitchFamily="34" charset="-122"/>
                          <a:cs typeface="Calibri" pitchFamily="34" charset="-120"/>
                        </a:rPr>
                        <a:t>0.00</a:t>
                      </a:r>
                      <a:endParaRPr lang="en-US" sz="15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tc>
                  <a:txBody>
                    <a:bodyPr/>
                    <a:lstStyle/>
                    <a:p>
                      <a:pPr marL="0" indent="0" algn="ctr">
                        <a:buNone/>
                      </a:pPr>
                      <a:r>
                        <a:rPr lang="en-US" sz="1500" dirty="0">
                          <a:solidFill>
                            <a:srgbClr val="3A3A3A"/>
                          </a:solidFill>
                          <a:latin typeface="Calibri" pitchFamily="34" charset="0"/>
                          <a:ea typeface="Calibri" pitchFamily="34" charset="-122"/>
                          <a:cs typeface="Calibri" pitchFamily="34" charset="-120"/>
                        </a:rPr>
                        <a:t>1.00</a:t>
                      </a:r>
                      <a:endParaRPr lang="en-US" sz="1500" dirty="0">
                        <a:latin typeface="Calibri" charset="0"/>
                        <a:ea typeface="Calibri" charset="0"/>
                        <a:cs typeface="Calibri" charset="0"/>
                      </a:endParaRPr>
                    </a:p>
                  </a:txBody>
                  <a:tcPr anchor="ctr">
                    <a:lnL w="9525" cap="flat" cmpd="sng" algn="ctr">
                      <a:solidFill>
                        <a:srgbClr val="E0E0E0"/>
                      </a:solidFill>
                      <a:prstDash val="solid"/>
                      <a:round/>
                      <a:headEnd type="none" w="med" len="med"/>
                      <a:tailEnd type="none" w="med" len="med"/>
                    </a:lnL>
                    <a:lnR w="9525" cap="flat" cmpd="sng" algn="ctr">
                      <a:solidFill>
                        <a:srgbClr val="E0E0E0"/>
                      </a:solidFill>
                      <a:prstDash val="solid"/>
                      <a:round/>
                      <a:headEnd type="none" w="med" len="med"/>
                      <a:tailEnd type="none" w="med" len="med"/>
                    </a:lnR>
                    <a:lnT w="9525" cap="flat" cmpd="sng" algn="ctr">
                      <a:solidFill>
                        <a:srgbClr val="E0E0E0"/>
                      </a:solidFill>
                      <a:prstDash val="solid"/>
                      <a:round/>
                      <a:headEnd type="none" w="med" len="med"/>
                      <a:tailEnd type="none" w="med" len="med"/>
                    </a:lnT>
                    <a:lnB w="9525" cap="flat" cmpd="sng" algn="ctr">
                      <a:solidFill>
                        <a:srgbClr val="E0E0E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Shape 2"/>
          <p:cNvSpPr/>
          <p:nvPr/>
        </p:nvSpPr>
        <p:spPr>
          <a:xfrm>
            <a:off x="548640" y="3840480"/>
            <a:ext cx="5852160" cy="2468880"/>
          </a:xfrm>
          <a:prstGeom prst="rect">
            <a:avLst/>
          </a:prstGeom>
          <a:solidFill>
            <a:srgbClr val="F2F2F2"/>
          </a:solidFill>
          <a:ln/>
        </p:spPr>
        <p:txBody>
          <a:bodyPr/>
          <a:lstStyle/>
          <a:p>
            <a:endParaRPr lang="en-IN"/>
          </a:p>
        </p:txBody>
      </p:sp>
      <p:sp>
        <p:nvSpPr>
          <p:cNvPr id="6" name="Text 3"/>
          <p:cNvSpPr/>
          <p:nvPr/>
        </p:nvSpPr>
        <p:spPr>
          <a:xfrm>
            <a:off x="822960" y="4023360"/>
            <a:ext cx="5303520" cy="365760"/>
          </a:xfrm>
          <a:prstGeom prst="rect">
            <a:avLst/>
          </a:prstGeom>
          <a:noFill/>
          <a:ln/>
        </p:spPr>
        <p:txBody>
          <a:bodyPr wrap="square" rtlCol="0" anchor="ctr"/>
          <a:lstStyle/>
          <a:p>
            <a:pPr marL="0" indent="0">
              <a:buNone/>
            </a:pPr>
            <a:r>
              <a:rPr lang="en-US" sz="1400" b="1" dirty="0">
                <a:solidFill>
                  <a:srgbClr val="C8102E"/>
                </a:solidFill>
                <a:latin typeface="Calibri" pitchFamily="34" charset="0"/>
                <a:ea typeface="Calibri" pitchFamily="34" charset="-122"/>
                <a:cs typeface="Calibri" pitchFamily="34" charset="-120"/>
              </a:rPr>
              <a:t>What this tells us</a:t>
            </a:r>
            <a:endParaRPr lang="en-US" sz="1400" dirty="0"/>
          </a:p>
        </p:txBody>
      </p:sp>
      <p:sp>
        <p:nvSpPr>
          <p:cNvPr id="7" name="Text 4"/>
          <p:cNvSpPr/>
          <p:nvPr/>
        </p:nvSpPr>
        <p:spPr>
          <a:xfrm>
            <a:off x="822960" y="4434840"/>
            <a:ext cx="5303520" cy="1737360"/>
          </a:xfrm>
          <a:prstGeom prst="rect">
            <a:avLst/>
          </a:prstGeom>
          <a:noFill/>
          <a:ln/>
        </p:spPr>
        <p:txBody>
          <a:bodyPr wrap="square" rtlCol="0" anchor="ctr"/>
          <a:lstStyle/>
          <a:p>
            <a:pPr marL="0" indent="0">
              <a:lnSpc>
                <a:spcPct val="125000"/>
              </a:lnSpc>
              <a:buNone/>
            </a:pPr>
            <a:r>
              <a:rPr lang="en-US" sz="1400" dirty="0">
                <a:solidFill>
                  <a:srgbClr val="3A3A3A"/>
                </a:solidFill>
                <a:latin typeface="Times New Roman" panose="02020603050405020304" pitchFamily="18" charset="0"/>
                <a:ea typeface="Calibri" pitchFamily="34" charset="-122"/>
                <a:cs typeface="Times New Roman" panose="02020603050405020304" pitchFamily="18" charset="0"/>
              </a:rPr>
              <a:t>All three correlations are close to zero. Price does not meaningfully predict discount depth or customer rating — shoppers are not simply rating expensive laptops higher, and discounting isn't concentrated at any particular price point.</a:t>
            </a:r>
            <a:endParaRPr lang="en-US" sz="1400" dirty="0">
              <a:latin typeface="Times New Roman" panose="02020603050405020304" pitchFamily="18" charset="0"/>
              <a:cs typeface="Times New Roman" panose="02020603050405020304" pitchFamily="18" charset="0"/>
            </a:endParaRPr>
          </a:p>
        </p:txBody>
      </p:sp>
      <p:sp>
        <p:nvSpPr>
          <p:cNvPr id="10" name="Text 6"/>
          <p:cNvSpPr/>
          <p:nvPr/>
        </p:nvSpPr>
        <p:spPr>
          <a:xfrm>
            <a:off x="457200" y="6537960"/>
            <a:ext cx="5486400" cy="274320"/>
          </a:xfrm>
          <a:prstGeom prst="rect">
            <a:avLst/>
          </a:prstGeom>
          <a:noFill/>
          <a:ln/>
        </p:spPr>
        <p:txBody>
          <a:bodyPr wrap="square"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INNOMATICS RESEARCH LABS</a:t>
            </a:r>
            <a:endParaRPr lang="en-US" sz="900" dirty="0"/>
          </a:p>
        </p:txBody>
      </p:sp>
      <p:sp>
        <p:nvSpPr>
          <p:cNvPr id="11" name="Text 7"/>
          <p:cNvSpPr/>
          <p:nvPr/>
        </p:nvSpPr>
        <p:spPr>
          <a:xfrm>
            <a:off x="11274552" y="6537960"/>
            <a:ext cx="45720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621792"/>
            <a:ext cx="10515600" cy="731520"/>
          </a:xfrm>
          <a:prstGeom prst="rect">
            <a:avLst/>
          </a:prstGeom>
          <a:noFill/>
          <a:ln/>
        </p:spPr>
        <p:txBody>
          <a:bodyPr wrap="square"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Premium Segment Analysis</a:t>
            </a:r>
            <a:endParaRPr lang="en-US" sz="3000" dirty="0"/>
          </a:p>
        </p:txBody>
      </p:sp>
      <p:sp>
        <p:nvSpPr>
          <p:cNvPr id="5" name="Shape 2"/>
          <p:cNvSpPr/>
          <p:nvPr/>
        </p:nvSpPr>
        <p:spPr>
          <a:xfrm>
            <a:off x="7754112" y="1353312"/>
            <a:ext cx="3977640" cy="4176631"/>
          </a:xfrm>
          <a:prstGeom prst="rect">
            <a:avLst/>
          </a:prstGeom>
          <a:solidFill>
            <a:srgbClr val="C8102E"/>
          </a:solidFill>
          <a:ln/>
        </p:spPr>
        <p:txBody>
          <a:bodyPr/>
          <a:lstStyle/>
          <a:p>
            <a:endParaRPr lang="en-IN"/>
          </a:p>
        </p:txBody>
      </p:sp>
      <p:sp>
        <p:nvSpPr>
          <p:cNvPr id="6" name="Text 3"/>
          <p:cNvSpPr/>
          <p:nvPr/>
        </p:nvSpPr>
        <p:spPr>
          <a:xfrm>
            <a:off x="7680960" y="1737360"/>
            <a:ext cx="3977640" cy="914400"/>
          </a:xfrm>
          <a:prstGeom prst="rect">
            <a:avLst/>
          </a:prstGeom>
          <a:noFill/>
          <a:ln/>
        </p:spPr>
        <p:txBody>
          <a:bodyPr wrap="square" rtlCol="0" anchor="ctr"/>
          <a:lstStyle/>
          <a:p>
            <a:pPr marL="0" indent="0" algn="ctr">
              <a:buNone/>
            </a:pPr>
            <a:endParaRPr lang="en-US" sz="4400" dirty="0"/>
          </a:p>
        </p:txBody>
      </p:sp>
      <p:sp>
        <p:nvSpPr>
          <p:cNvPr id="7" name="Text 4"/>
          <p:cNvSpPr/>
          <p:nvPr/>
        </p:nvSpPr>
        <p:spPr>
          <a:xfrm>
            <a:off x="7863840" y="2606040"/>
            <a:ext cx="3611880" cy="822960"/>
          </a:xfrm>
          <a:prstGeom prst="rect">
            <a:avLst/>
          </a:prstGeom>
          <a:noFill/>
          <a:ln/>
        </p:spPr>
        <p:txBody>
          <a:bodyPr wrap="square" rtlCol="0" anchor="ctr"/>
          <a:lstStyle/>
          <a:p>
            <a:pPr marL="0" indent="0" algn="ctr">
              <a:buNone/>
            </a:pPr>
            <a:endParaRPr lang="en-US" sz="1250" dirty="0"/>
          </a:p>
        </p:txBody>
      </p:sp>
      <p:sp>
        <p:nvSpPr>
          <p:cNvPr id="8" name="Shape 5"/>
          <p:cNvSpPr/>
          <p:nvPr/>
        </p:nvSpPr>
        <p:spPr>
          <a:xfrm>
            <a:off x="8074152" y="1915886"/>
            <a:ext cx="3337560" cy="0"/>
          </a:xfrm>
          <a:prstGeom prst="line">
            <a:avLst/>
          </a:prstGeom>
          <a:noFill/>
          <a:ln w="12700">
            <a:solidFill>
              <a:srgbClr val="FFFFFF"/>
            </a:solidFill>
            <a:prstDash val="solid"/>
          </a:ln>
        </p:spPr>
        <p:txBody>
          <a:bodyPr/>
          <a:lstStyle/>
          <a:p>
            <a:endParaRPr lang="en-IN"/>
          </a:p>
        </p:txBody>
      </p:sp>
      <p:sp>
        <p:nvSpPr>
          <p:cNvPr id="9" name="Text 6"/>
          <p:cNvSpPr/>
          <p:nvPr/>
        </p:nvSpPr>
        <p:spPr>
          <a:xfrm>
            <a:off x="7863840" y="2286000"/>
            <a:ext cx="3831336" cy="2286000"/>
          </a:xfrm>
          <a:prstGeom prst="rect">
            <a:avLst/>
          </a:prstGeom>
          <a:noFill/>
          <a:ln/>
        </p:spPr>
        <p:txBody>
          <a:bodyPr wrap="square" rtlCol="0" anchor="ctr"/>
          <a:lstStyle/>
          <a:p>
            <a:pPr>
              <a:lnSpc>
                <a:spcPct val="125000"/>
              </a:lnSpc>
            </a:pPr>
            <a:r>
              <a:rPr lang="en-IN" sz="1400" dirty="0">
                <a:solidFill>
                  <a:schemeClr val="bg1"/>
                </a:solidFill>
              </a:rPr>
              <a:t>Samsung leads the premium laptop segment with the highest number of premium listings, while HP and Apple follow with significantly fewer models. This indicates Samsung has the strongest presence in the premium category among the displayed brands.</a:t>
            </a:r>
            <a:endParaRPr lang="en-US" sz="1400" dirty="0">
              <a:solidFill>
                <a:schemeClr val="bg1"/>
              </a:solidFill>
            </a:endParaRPr>
          </a:p>
        </p:txBody>
      </p:sp>
      <p:sp>
        <p:nvSpPr>
          <p:cNvPr id="11" name="Text 8"/>
          <p:cNvSpPr/>
          <p:nvPr/>
        </p:nvSpPr>
        <p:spPr>
          <a:xfrm>
            <a:off x="11274552" y="6537960"/>
            <a:ext cx="45720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12</a:t>
            </a:r>
            <a:endParaRPr lang="en-US" sz="900" dirty="0"/>
          </a:p>
        </p:txBody>
      </p:sp>
      <p:pic>
        <p:nvPicPr>
          <p:cNvPr id="12" name="Picture 11">
            <a:extLst>
              <a:ext uri="{FF2B5EF4-FFF2-40B4-BE49-F238E27FC236}">
                <a16:creationId xmlns:a16="http://schemas.microsoft.com/office/drawing/2014/main" id="{D232EC6F-DA70-617C-3DC6-C4ED0062D05E}"/>
              </a:ext>
            </a:extLst>
          </p:cNvPr>
          <p:cNvPicPr>
            <a:picLocks noChangeAspect="1"/>
          </p:cNvPicPr>
          <p:nvPr/>
        </p:nvPicPr>
        <p:blipFill>
          <a:blip r:embed="rId3"/>
          <a:stretch>
            <a:fillRect/>
          </a:stretch>
        </p:blipFill>
        <p:spPr>
          <a:xfrm>
            <a:off x="510540" y="1634368"/>
            <a:ext cx="6940791" cy="428420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3" name="Text 1"/>
          <p:cNvSpPr/>
          <p:nvPr/>
        </p:nvSpPr>
        <p:spPr>
          <a:xfrm>
            <a:off x="548640" y="621792"/>
            <a:ext cx="10515600" cy="731520"/>
          </a:xfrm>
          <a:prstGeom prst="rect">
            <a:avLst/>
          </a:prstGeom>
          <a:noFill/>
          <a:ln/>
        </p:spPr>
        <p:txBody>
          <a:bodyPr wrap="square" rtlCol="0" anchor="ctr"/>
          <a:lstStyle/>
          <a:p>
            <a:pPr marL="0" indent="0">
              <a:buNone/>
            </a:pPr>
            <a:r>
              <a:rPr lang="en-US" b="1" dirty="0">
                <a:solidFill>
                  <a:srgbClr val="1A1A1A"/>
                </a:solidFill>
                <a:latin typeface="Times New Roman" panose="02020603050405020304" pitchFamily="18" charset="0"/>
                <a:ea typeface="Cambria" pitchFamily="34" charset="-122"/>
                <a:cs typeface="Times New Roman" panose="02020603050405020304" pitchFamily="18" charset="0"/>
              </a:rPr>
              <a:t>Key Business Questions</a:t>
            </a:r>
            <a:endParaRPr lang="en-US" dirty="0">
              <a:latin typeface="Times New Roman" panose="02020603050405020304" pitchFamily="18" charset="0"/>
              <a:cs typeface="Times New Roman" panose="02020603050405020304" pitchFamily="18" charset="0"/>
            </a:endParaRPr>
          </a:p>
        </p:txBody>
      </p:sp>
      <p:sp>
        <p:nvSpPr>
          <p:cNvPr id="4" name="Shape 2"/>
          <p:cNvSpPr/>
          <p:nvPr/>
        </p:nvSpPr>
        <p:spPr>
          <a:xfrm>
            <a:off x="548640" y="1417320"/>
            <a:ext cx="5394960" cy="1170432"/>
          </a:xfrm>
          <a:prstGeom prst="rect">
            <a:avLst/>
          </a:prstGeom>
          <a:solidFill>
            <a:srgbClr val="F2F2F2"/>
          </a:solidFill>
          <a:ln/>
        </p:spPr>
        <p:txBody>
          <a:bodyPr/>
          <a:lstStyle/>
          <a:p>
            <a:endParaRPr lang="en-IN" sz="1400">
              <a:latin typeface="Times New Roman" panose="02020603050405020304" pitchFamily="18" charset="0"/>
              <a:cs typeface="Times New Roman" panose="02020603050405020304" pitchFamily="18" charset="0"/>
            </a:endParaRPr>
          </a:p>
        </p:txBody>
      </p:sp>
      <p:sp>
        <p:nvSpPr>
          <p:cNvPr id="5" name="Shape 3"/>
          <p:cNvSpPr/>
          <p:nvPr/>
        </p:nvSpPr>
        <p:spPr>
          <a:xfrm>
            <a:off x="548640" y="1417320"/>
            <a:ext cx="73152" cy="1170432"/>
          </a:xfrm>
          <a:prstGeom prst="rect">
            <a:avLst/>
          </a:prstGeom>
          <a:solidFill>
            <a:srgbClr val="C8102E"/>
          </a:solidFill>
          <a:ln/>
        </p:spPr>
        <p:txBody>
          <a:bodyPr/>
          <a:lstStyle/>
          <a:p>
            <a:endParaRPr lang="en-IN" sz="1400">
              <a:latin typeface="Times New Roman" panose="02020603050405020304" pitchFamily="18" charset="0"/>
              <a:cs typeface="Times New Roman" panose="02020603050405020304" pitchFamily="18" charset="0"/>
            </a:endParaRPr>
          </a:p>
        </p:txBody>
      </p:sp>
      <p:sp>
        <p:nvSpPr>
          <p:cNvPr id="6" name="Text 4"/>
          <p:cNvSpPr/>
          <p:nvPr/>
        </p:nvSpPr>
        <p:spPr>
          <a:xfrm>
            <a:off x="777240" y="1508760"/>
            <a:ext cx="4983480" cy="384048"/>
          </a:xfrm>
          <a:prstGeom prst="rect">
            <a:avLst/>
          </a:prstGeom>
          <a:noFill/>
          <a:ln/>
        </p:spPr>
        <p:txBody>
          <a:bodyPr wrap="square" rtlCol="0" anchor="ctr"/>
          <a:lstStyle/>
          <a:p>
            <a:pPr marL="0" indent="0">
              <a:buNone/>
            </a:pPr>
            <a:r>
              <a:rPr lang="en-US" sz="1400" b="1" dirty="0">
                <a:solidFill>
                  <a:srgbClr val="1A1A1A"/>
                </a:solidFill>
                <a:latin typeface="Times New Roman" panose="02020603050405020304" pitchFamily="18" charset="0"/>
                <a:ea typeface="Calibri" pitchFamily="34" charset="-122"/>
                <a:cs typeface="Times New Roman" panose="02020603050405020304" pitchFamily="18" charset="0"/>
              </a:rPr>
              <a:t>Highest market share?</a:t>
            </a:r>
            <a:endParaRPr lang="en-US" sz="1400" dirty="0">
              <a:latin typeface="Times New Roman" panose="02020603050405020304" pitchFamily="18" charset="0"/>
              <a:cs typeface="Times New Roman" panose="02020603050405020304" pitchFamily="18" charset="0"/>
            </a:endParaRPr>
          </a:p>
        </p:txBody>
      </p:sp>
      <p:sp>
        <p:nvSpPr>
          <p:cNvPr id="7" name="Text 5"/>
          <p:cNvSpPr/>
          <p:nvPr/>
        </p:nvSpPr>
        <p:spPr>
          <a:xfrm>
            <a:off x="777240" y="1892808"/>
            <a:ext cx="4983480" cy="594360"/>
          </a:xfrm>
          <a:prstGeom prst="rect">
            <a:avLst/>
          </a:prstGeom>
          <a:noFill/>
          <a:ln/>
        </p:spPr>
        <p:txBody>
          <a:bodyPr wrap="square" rtlCol="0" anchor="ctr"/>
          <a:lstStyle/>
          <a:p>
            <a:pPr marL="0" indent="0">
              <a:buNone/>
            </a:pPr>
            <a:r>
              <a:rPr lang="en-US" sz="1400" dirty="0">
                <a:solidFill>
                  <a:srgbClr val="3A3A3A"/>
                </a:solidFill>
                <a:latin typeface="Times New Roman" panose="02020603050405020304" pitchFamily="18" charset="0"/>
                <a:ea typeface="Calibri" pitchFamily="34" charset="-122"/>
                <a:cs typeface="Times New Roman" panose="02020603050405020304" pitchFamily="18" charset="0"/>
              </a:rPr>
              <a:t>ASUS (714 listings, ~33%)</a:t>
            </a:r>
            <a:endParaRPr lang="en-US" sz="1400" dirty="0">
              <a:latin typeface="Times New Roman" panose="02020603050405020304" pitchFamily="18" charset="0"/>
              <a:cs typeface="Times New Roman" panose="02020603050405020304" pitchFamily="18" charset="0"/>
            </a:endParaRPr>
          </a:p>
        </p:txBody>
      </p:sp>
      <p:sp>
        <p:nvSpPr>
          <p:cNvPr id="8" name="Shape 6"/>
          <p:cNvSpPr/>
          <p:nvPr/>
        </p:nvSpPr>
        <p:spPr>
          <a:xfrm>
            <a:off x="6217920" y="1417320"/>
            <a:ext cx="5394960" cy="1170432"/>
          </a:xfrm>
          <a:prstGeom prst="rect">
            <a:avLst/>
          </a:prstGeom>
          <a:solidFill>
            <a:srgbClr val="F2F2F2"/>
          </a:solidFill>
          <a:ln/>
        </p:spPr>
        <p:txBody>
          <a:bodyPr/>
          <a:lstStyle/>
          <a:p>
            <a:endParaRPr lang="en-IN" sz="1400">
              <a:latin typeface="Times New Roman" panose="02020603050405020304" pitchFamily="18" charset="0"/>
              <a:cs typeface="Times New Roman" panose="02020603050405020304" pitchFamily="18" charset="0"/>
            </a:endParaRPr>
          </a:p>
        </p:txBody>
      </p:sp>
      <p:sp>
        <p:nvSpPr>
          <p:cNvPr id="9" name="Shape 7"/>
          <p:cNvSpPr/>
          <p:nvPr/>
        </p:nvSpPr>
        <p:spPr>
          <a:xfrm>
            <a:off x="6217920" y="1417320"/>
            <a:ext cx="73152" cy="1170432"/>
          </a:xfrm>
          <a:prstGeom prst="rect">
            <a:avLst/>
          </a:prstGeom>
          <a:solidFill>
            <a:srgbClr val="C8102E"/>
          </a:solidFill>
          <a:ln/>
        </p:spPr>
        <p:txBody>
          <a:bodyPr/>
          <a:lstStyle/>
          <a:p>
            <a:endParaRPr lang="en-IN" sz="1400">
              <a:latin typeface="Times New Roman" panose="02020603050405020304" pitchFamily="18" charset="0"/>
              <a:cs typeface="Times New Roman" panose="02020603050405020304" pitchFamily="18" charset="0"/>
            </a:endParaRPr>
          </a:p>
        </p:txBody>
      </p:sp>
      <p:sp>
        <p:nvSpPr>
          <p:cNvPr id="10" name="Text 8"/>
          <p:cNvSpPr/>
          <p:nvPr/>
        </p:nvSpPr>
        <p:spPr>
          <a:xfrm>
            <a:off x="6446520" y="1508760"/>
            <a:ext cx="4983480" cy="384048"/>
          </a:xfrm>
          <a:prstGeom prst="rect">
            <a:avLst/>
          </a:prstGeom>
          <a:noFill/>
          <a:ln/>
        </p:spPr>
        <p:txBody>
          <a:bodyPr wrap="square" rtlCol="0" anchor="ctr"/>
          <a:lstStyle/>
          <a:p>
            <a:pPr marL="0" indent="0">
              <a:buNone/>
            </a:pPr>
            <a:r>
              <a:rPr lang="en-US" sz="1400" b="1" dirty="0">
                <a:solidFill>
                  <a:srgbClr val="1A1A1A"/>
                </a:solidFill>
                <a:latin typeface="Times New Roman" panose="02020603050405020304" pitchFamily="18" charset="0"/>
                <a:ea typeface="Calibri" pitchFamily="34" charset="-122"/>
                <a:cs typeface="Times New Roman" panose="02020603050405020304" pitchFamily="18" charset="0"/>
              </a:rPr>
              <a:t>Highest average price brand?</a:t>
            </a:r>
            <a:endParaRPr lang="en-US" sz="1400" dirty="0">
              <a:latin typeface="Times New Roman" panose="02020603050405020304" pitchFamily="18" charset="0"/>
              <a:cs typeface="Times New Roman" panose="02020603050405020304" pitchFamily="18" charset="0"/>
            </a:endParaRPr>
          </a:p>
        </p:txBody>
      </p:sp>
      <p:sp>
        <p:nvSpPr>
          <p:cNvPr id="11" name="Text 9"/>
          <p:cNvSpPr/>
          <p:nvPr/>
        </p:nvSpPr>
        <p:spPr>
          <a:xfrm>
            <a:off x="6446520" y="1892808"/>
            <a:ext cx="4983480" cy="594360"/>
          </a:xfrm>
          <a:prstGeom prst="rect">
            <a:avLst/>
          </a:prstGeom>
          <a:noFill/>
          <a:ln/>
        </p:spPr>
        <p:txBody>
          <a:bodyPr wrap="square" rtlCol="0" anchor="ctr"/>
          <a:lstStyle/>
          <a:p>
            <a:pPr marL="0" indent="0">
              <a:buNone/>
            </a:pPr>
            <a:r>
              <a:rPr lang="en-US" sz="1400" dirty="0">
                <a:solidFill>
                  <a:srgbClr val="3A3A3A"/>
                </a:solidFill>
                <a:latin typeface="Times New Roman" panose="02020603050405020304" pitchFamily="18" charset="0"/>
                <a:ea typeface="Calibri" pitchFamily="34" charset="-122"/>
                <a:cs typeface="Times New Roman" panose="02020603050405020304" pitchFamily="18" charset="0"/>
              </a:rPr>
              <a:t>ASUS (avg. ₹48,368)</a:t>
            </a:r>
            <a:endParaRPr lang="en-US" sz="1400" dirty="0">
              <a:latin typeface="Times New Roman" panose="02020603050405020304" pitchFamily="18" charset="0"/>
              <a:cs typeface="Times New Roman" panose="02020603050405020304" pitchFamily="18" charset="0"/>
            </a:endParaRPr>
          </a:p>
        </p:txBody>
      </p:sp>
      <p:sp>
        <p:nvSpPr>
          <p:cNvPr id="12" name="Shape 10"/>
          <p:cNvSpPr/>
          <p:nvPr/>
        </p:nvSpPr>
        <p:spPr>
          <a:xfrm>
            <a:off x="548640" y="2752344"/>
            <a:ext cx="5394960" cy="1170432"/>
          </a:xfrm>
          <a:prstGeom prst="rect">
            <a:avLst/>
          </a:prstGeom>
          <a:solidFill>
            <a:srgbClr val="F2F2F2"/>
          </a:solidFill>
          <a:ln/>
        </p:spPr>
        <p:txBody>
          <a:bodyPr/>
          <a:lstStyle/>
          <a:p>
            <a:endParaRPr lang="en-IN" sz="1400">
              <a:latin typeface="Times New Roman" panose="02020603050405020304" pitchFamily="18" charset="0"/>
              <a:cs typeface="Times New Roman" panose="02020603050405020304" pitchFamily="18" charset="0"/>
            </a:endParaRPr>
          </a:p>
        </p:txBody>
      </p:sp>
      <p:sp>
        <p:nvSpPr>
          <p:cNvPr id="13" name="Shape 11"/>
          <p:cNvSpPr/>
          <p:nvPr/>
        </p:nvSpPr>
        <p:spPr>
          <a:xfrm>
            <a:off x="548640" y="2752344"/>
            <a:ext cx="73152" cy="1170432"/>
          </a:xfrm>
          <a:prstGeom prst="rect">
            <a:avLst/>
          </a:prstGeom>
          <a:solidFill>
            <a:srgbClr val="C8102E"/>
          </a:solidFill>
          <a:ln/>
        </p:spPr>
        <p:txBody>
          <a:bodyPr/>
          <a:lstStyle/>
          <a:p>
            <a:endParaRPr lang="en-IN" sz="1400">
              <a:latin typeface="Times New Roman" panose="02020603050405020304" pitchFamily="18" charset="0"/>
              <a:cs typeface="Times New Roman" panose="02020603050405020304" pitchFamily="18" charset="0"/>
            </a:endParaRPr>
          </a:p>
        </p:txBody>
      </p:sp>
      <p:sp>
        <p:nvSpPr>
          <p:cNvPr id="14" name="Text 12"/>
          <p:cNvSpPr/>
          <p:nvPr/>
        </p:nvSpPr>
        <p:spPr>
          <a:xfrm>
            <a:off x="777240" y="2843784"/>
            <a:ext cx="4983480" cy="384048"/>
          </a:xfrm>
          <a:prstGeom prst="rect">
            <a:avLst/>
          </a:prstGeom>
          <a:noFill/>
          <a:ln/>
        </p:spPr>
        <p:txBody>
          <a:bodyPr wrap="square" rtlCol="0" anchor="ctr"/>
          <a:lstStyle/>
          <a:p>
            <a:pPr marL="0" indent="0">
              <a:buNone/>
            </a:pPr>
            <a:r>
              <a:rPr lang="en-US" sz="1400" b="1" dirty="0">
                <a:solidFill>
                  <a:srgbClr val="1A1A1A"/>
                </a:solidFill>
                <a:latin typeface="Times New Roman" panose="02020603050405020304" pitchFamily="18" charset="0"/>
                <a:ea typeface="Calibri" pitchFamily="34" charset="-122"/>
                <a:cs typeface="Times New Roman" panose="02020603050405020304" pitchFamily="18" charset="0"/>
              </a:rPr>
              <a:t>Most common RAM?</a:t>
            </a:r>
            <a:endParaRPr lang="en-US" sz="1400" dirty="0">
              <a:latin typeface="Times New Roman" panose="02020603050405020304" pitchFamily="18" charset="0"/>
              <a:cs typeface="Times New Roman" panose="02020603050405020304" pitchFamily="18" charset="0"/>
            </a:endParaRPr>
          </a:p>
        </p:txBody>
      </p:sp>
      <p:sp>
        <p:nvSpPr>
          <p:cNvPr id="15" name="Text 13"/>
          <p:cNvSpPr/>
          <p:nvPr/>
        </p:nvSpPr>
        <p:spPr>
          <a:xfrm>
            <a:off x="777240" y="3227832"/>
            <a:ext cx="4983480" cy="594360"/>
          </a:xfrm>
          <a:prstGeom prst="rect">
            <a:avLst/>
          </a:prstGeom>
          <a:noFill/>
          <a:ln/>
        </p:spPr>
        <p:txBody>
          <a:bodyPr wrap="square" rtlCol="0" anchor="ctr"/>
          <a:lstStyle/>
          <a:p>
            <a:pPr marL="0" indent="0">
              <a:buNone/>
            </a:pPr>
            <a:r>
              <a:rPr lang="en-US" sz="1400" dirty="0">
                <a:solidFill>
                  <a:srgbClr val="3A3A3A"/>
                </a:solidFill>
                <a:latin typeface="Times New Roman" panose="02020603050405020304" pitchFamily="18" charset="0"/>
                <a:ea typeface="Calibri" pitchFamily="34" charset="-122"/>
                <a:cs typeface="Times New Roman" panose="02020603050405020304" pitchFamily="18" charset="0"/>
              </a:rPr>
              <a:t>8 GB (803 listings)</a:t>
            </a:r>
            <a:endParaRPr lang="en-US" sz="1400" dirty="0">
              <a:latin typeface="Times New Roman" panose="02020603050405020304" pitchFamily="18" charset="0"/>
              <a:cs typeface="Times New Roman" panose="02020603050405020304" pitchFamily="18" charset="0"/>
            </a:endParaRPr>
          </a:p>
        </p:txBody>
      </p:sp>
      <p:sp>
        <p:nvSpPr>
          <p:cNvPr id="16" name="Shape 14"/>
          <p:cNvSpPr/>
          <p:nvPr/>
        </p:nvSpPr>
        <p:spPr>
          <a:xfrm>
            <a:off x="6217920" y="2752344"/>
            <a:ext cx="5394960" cy="1170432"/>
          </a:xfrm>
          <a:prstGeom prst="rect">
            <a:avLst/>
          </a:prstGeom>
          <a:solidFill>
            <a:srgbClr val="F2F2F2"/>
          </a:solidFill>
          <a:ln/>
        </p:spPr>
        <p:txBody>
          <a:bodyPr/>
          <a:lstStyle/>
          <a:p>
            <a:endParaRPr lang="en-IN" sz="1400">
              <a:latin typeface="Times New Roman" panose="02020603050405020304" pitchFamily="18" charset="0"/>
              <a:cs typeface="Times New Roman" panose="02020603050405020304" pitchFamily="18" charset="0"/>
            </a:endParaRPr>
          </a:p>
        </p:txBody>
      </p:sp>
      <p:sp>
        <p:nvSpPr>
          <p:cNvPr id="17" name="Shape 15"/>
          <p:cNvSpPr/>
          <p:nvPr/>
        </p:nvSpPr>
        <p:spPr>
          <a:xfrm>
            <a:off x="6217920" y="2752344"/>
            <a:ext cx="73152" cy="1170432"/>
          </a:xfrm>
          <a:prstGeom prst="rect">
            <a:avLst/>
          </a:prstGeom>
          <a:solidFill>
            <a:srgbClr val="C8102E"/>
          </a:solidFill>
          <a:ln/>
        </p:spPr>
        <p:txBody>
          <a:bodyPr/>
          <a:lstStyle/>
          <a:p>
            <a:endParaRPr lang="en-IN" sz="1400">
              <a:latin typeface="Times New Roman" panose="02020603050405020304" pitchFamily="18" charset="0"/>
              <a:cs typeface="Times New Roman" panose="02020603050405020304" pitchFamily="18" charset="0"/>
            </a:endParaRPr>
          </a:p>
        </p:txBody>
      </p:sp>
      <p:sp>
        <p:nvSpPr>
          <p:cNvPr id="18" name="Text 16"/>
          <p:cNvSpPr/>
          <p:nvPr/>
        </p:nvSpPr>
        <p:spPr>
          <a:xfrm>
            <a:off x="6446520" y="2843784"/>
            <a:ext cx="4983480" cy="384048"/>
          </a:xfrm>
          <a:prstGeom prst="rect">
            <a:avLst/>
          </a:prstGeom>
          <a:noFill/>
          <a:ln/>
        </p:spPr>
        <p:txBody>
          <a:bodyPr wrap="square" rtlCol="0" anchor="ctr"/>
          <a:lstStyle/>
          <a:p>
            <a:pPr marL="0" indent="0">
              <a:buNone/>
            </a:pPr>
            <a:r>
              <a:rPr lang="en-US" sz="1400" b="1" dirty="0">
                <a:solidFill>
                  <a:srgbClr val="1A1A1A"/>
                </a:solidFill>
                <a:latin typeface="Times New Roman" panose="02020603050405020304" pitchFamily="18" charset="0"/>
                <a:ea typeface="Calibri" pitchFamily="34" charset="-122"/>
                <a:cs typeface="Times New Roman" panose="02020603050405020304" pitchFamily="18" charset="0"/>
              </a:rPr>
              <a:t>Most common SSD?</a:t>
            </a:r>
            <a:endParaRPr lang="en-US" sz="1400" dirty="0">
              <a:latin typeface="Times New Roman" panose="02020603050405020304" pitchFamily="18" charset="0"/>
              <a:cs typeface="Times New Roman" panose="02020603050405020304" pitchFamily="18" charset="0"/>
            </a:endParaRPr>
          </a:p>
        </p:txBody>
      </p:sp>
      <p:sp>
        <p:nvSpPr>
          <p:cNvPr id="19" name="Text 17"/>
          <p:cNvSpPr/>
          <p:nvPr/>
        </p:nvSpPr>
        <p:spPr>
          <a:xfrm>
            <a:off x="6446520" y="3227832"/>
            <a:ext cx="4983480" cy="594360"/>
          </a:xfrm>
          <a:prstGeom prst="rect">
            <a:avLst/>
          </a:prstGeom>
          <a:noFill/>
          <a:ln/>
        </p:spPr>
        <p:txBody>
          <a:bodyPr wrap="square" rtlCol="0" anchor="ctr"/>
          <a:lstStyle/>
          <a:p>
            <a:pPr marL="0" indent="0">
              <a:buNone/>
            </a:pPr>
            <a:r>
              <a:rPr lang="en-US" sz="1400" dirty="0">
                <a:solidFill>
                  <a:srgbClr val="3A3A3A"/>
                </a:solidFill>
                <a:latin typeface="Times New Roman" panose="02020603050405020304" pitchFamily="18" charset="0"/>
                <a:ea typeface="Calibri" pitchFamily="34" charset="-122"/>
                <a:cs typeface="Times New Roman" panose="02020603050405020304" pitchFamily="18" charset="0"/>
              </a:rPr>
              <a:t>512 GB SSD (1517 listings)</a:t>
            </a:r>
            <a:endParaRPr lang="en-US" sz="1400" dirty="0">
              <a:latin typeface="Times New Roman" panose="02020603050405020304" pitchFamily="18" charset="0"/>
              <a:cs typeface="Times New Roman" panose="02020603050405020304" pitchFamily="18" charset="0"/>
            </a:endParaRPr>
          </a:p>
        </p:txBody>
      </p:sp>
      <p:sp>
        <p:nvSpPr>
          <p:cNvPr id="20" name="Shape 18"/>
          <p:cNvSpPr/>
          <p:nvPr/>
        </p:nvSpPr>
        <p:spPr>
          <a:xfrm>
            <a:off x="548640" y="4087368"/>
            <a:ext cx="5394960" cy="1170432"/>
          </a:xfrm>
          <a:prstGeom prst="rect">
            <a:avLst/>
          </a:prstGeom>
          <a:solidFill>
            <a:srgbClr val="F2F2F2"/>
          </a:solidFill>
          <a:ln/>
        </p:spPr>
        <p:txBody>
          <a:bodyPr/>
          <a:lstStyle/>
          <a:p>
            <a:endParaRPr lang="en-IN" sz="1400">
              <a:latin typeface="Times New Roman" panose="02020603050405020304" pitchFamily="18" charset="0"/>
              <a:cs typeface="Times New Roman" panose="02020603050405020304" pitchFamily="18" charset="0"/>
            </a:endParaRPr>
          </a:p>
        </p:txBody>
      </p:sp>
      <p:sp>
        <p:nvSpPr>
          <p:cNvPr id="21" name="Shape 19"/>
          <p:cNvSpPr/>
          <p:nvPr/>
        </p:nvSpPr>
        <p:spPr>
          <a:xfrm>
            <a:off x="548640" y="4087368"/>
            <a:ext cx="73152" cy="1170432"/>
          </a:xfrm>
          <a:prstGeom prst="rect">
            <a:avLst/>
          </a:prstGeom>
          <a:solidFill>
            <a:srgbClr val="C8102E"/>
          </a:solidFill>
          <a:ln/>
        </p:spPr>
        <p:txBody>
          <a:bodyPr/>
          <a:lstStyle/>
          <a:p>
            <a:endParaRPr lang="en-IN" sz="1400">
              <a:latin typeface="Times New Roman" panose="02020603050405020304" pitchFamily="18" charset="0"/>
              <a:cs typeface="Times New Roman" panose="02020603050405020304" pitchFamily="18" charset="0"/>
            </a:endParaRPr>
          </a:p>
        </p:txBody>
      </p:sp>
      <p:sp>
        <p:nvSpPr>
          <p:cNvPr id="22" name="Text 20"/>
          <p:cNvSpPr/>
          <p:nvPr/>
        </p:nvSpPr>
        <p:spPr>
          <a:xfrm>
            <a:off x="777240" y="4178808"/>
            <a:ext cx="4983480" cy="384048"/>
          </a:xfrm>
          <a:prstGeom prst="rect">
            <a:avLst/>
          </a:prstGeom>
          <a:noFill/>
          <a:ln/>
        </p:spPr>
        <p:txBody>
          <a:bodyPr wrap="square" rtlCol="0" anchor="ctr"/>
          <a:lstStyle/>
          <a:p>
            <a:pPr marL="0" indent="0">
              <a:buNone/>
            </a:pPr>
            <a:r>
              <a:rPr lang="en-US" sz="1400" b="1" dirty="0">
                <a:solidFill>
                  <a:srgbClr val="1A1A1A"/>
                </a:solidFill>
                <a:latin typeface="Times New Roman" panose="02020603050405020304" pitchFamily="18" charset="0"/>
                <a:ea typeface="Calibri" pitchFamily="34" charset="-122"/>
                <a:cs typeface="Times New Roman" panose="02020603050405020304" pitchFamily="18" charset="0"/>
              </a:rPr>
              <a:t>Intel vs AMD pricing?</a:t>
            </a:r>
            <a:endParaRPr lang="en-US" sz="1400" dirty="0">
              <a:latin typeface="Times New Roman" panose="02020603050405020304" pitchFamily="18" charset="0"/>
              <a:cs typeface="Times New Roman" panose="02020603050405020304" pitchFamily="18" charset="0"/>
            </a:endParaRPr>
          </a:p>
        </p:txBody>
      </p:sp>
      <p:sp>
        <p:nvSpPr>
          <p:cNvPr id="23" name="Text 21"/>
          <p:cNvSpPr/>
          <p:nvPr/>
        </p:nvSpPr>
        <p:spPr>
          <a:xfrm>
            <a:off x="777240" y="4562856"/>
            <a:ext cx="4983480" cy="594360"/>
          </a:xfrm>
          <a:prstGeom prst="rect">
            <a:avLst/>
          </a:prstGeom>
          <a:noFill/>
          <a:ln/>
        </p:spPr>
        <p:txBody>
          <a:bodyPr wrap="square" rtlCol="0" anchor="ctr"/>
          <a:lstStyle/>
          <a:p>
            <a:pPr marL="0" indent="0">
              <a:buNone/>
            </a:pPr>
            <a:r>
              <a:rPr lang="en-US" sz="1400" dirty="0">
                <a:solidFill>
                  <a:srgbClr val="3A3A3A"/>
                </a:solidFill>
                <a:latin typeface="Times New Roman" panose="02020603050405020304" pitchFamily="18" charset="0"/>
                <a:ea typeface="Calibri" pitchFamily="34" charset="-122"/>
                <a:cs typeface="Times New Roman" panose="02020603050405020304" pitchFamily="18" charset="0"/>
              </a:rPr>
              <a:t>AMD-based laptops are priced marginally higher on average than Intel</a:t>
            </a:r>
            <a:endParaRPr lang="en-US" sz="1400" dirty="0">
              <a:latin typeface="Times New Roman" panose="02020603050405020304" pitchFamily="18" charset="0"/>
              <a:cs typeface="Times New Roman" panose="02020603050405020304" pitchFamily="18" charset="0"/>
            </a:endParaRPr>
          </a:p>
        </p:txBody>
      </p:sp>
      <p:sp>
        <p:nvSpPr>
          <p:cNvPr id="24" name="Shape 22"/>
          <p:cNvSpPr/>
          <p:nvPr/>
        </p:nvSpPr>
        <p:spPr>
          <a:xfrm>
            <a:off x="6217920" y="4087368"/>
            <a:ext cx="5394960" cy="1170432"/>
          </a:xfrm>
          <a:prstGeom prst="rect">
            <a:avLst/>
          </a:prstGeom>
          <a:solidFill>
            <a:srgbClr val="F2F2F2"/>
          </a:solidFill>
          <a:ln/>
        </p:spPr>
        <p:txBody>
          <a:bodyPr/>
          <a:lstStyle/>
          <a:p>
            <a:endParaRPr lang="en-IN" sz="1400">
              <a:latin typeface="Times New Roman" panose="02020603050405020304" pitchFamily="18" charset="0"/>
              <a:cs typeface="Times New Roman" panose="02020603050405020304" pitchFamily="18" charset="0"/>
            </a:endParaRPr>
          </a:p>
        </p:txBody>
      </p:sp>
      <p:sp>
        <p:nvSpPr>
          <p:cNvPr id="25" name="Shape 23"/>
          <p:cNvSpPr/>
          <p:nvPr/>
        </p:nvSpPr>
        <p:spPr>
          <a:xfrm>
            <a:off x="6217920" y="4087368"/>
            <a:ext cx="73152" cy="1170432"/>
          </a:xfrm>
          <a:prstGeom prst="rect">
            <a:avLst/>
          </a:prstGeom>
          <a:solidFill>
            <a:srgbClr val="C8102E"/>
          </a:solidFill>
          <a:ln/>
        </p:spPr>
        <p:txBody>
          <a:bodyPr/>
          <a:lstStyle/>
          <a:p>
            <a:endParaRPr lang="en-IN" sz="1400">
              <a:latin typeface="Times New Roman" panose="02020603050405020304" pitchFamily="18" charset="0"/>
              <a:cs typeface="Times New Roman" panose="02020603050405020304" pitchFamily="18" charset="0"/>
            </a:endParaRPr>
          </a:p>
        </p:txBody>
      </p:sp>
      <p:sp>
        <p:nvSpPr>
          <p:cNvPr id="26" name="Text 24"/>
          <p:cNvSpPr/>
          <p:nvPr/>
        </p:nvSpPr>
        <p:spPr>
          <a:xfrm>
            <a:off x="6446520" y="4178808"/>
            <a:ext cx="4983480" cy="384048"/>
          </a:xfrm>
          <a:prstGeom prst="rect">
            <a:avLst/>
          </a:prstGeom>
          <a:noFill/>
          <a:ln/>
        </p:spPr>
        <p:txBody>
          <a:bodyPr wrap="square" rtlCol="0" anchor="ctr"/>
          <a:lstStyle/>
          <a:p>
            <a:pPr marL="0" indent="0">
              <a:buNone/>
            </a:pPr>
            <a:r>
              <a:rPr lang="en-US" sz="1400" b="1" dirty="0">
                <a:solidFill>
                  <a:srgbClr val="1A1A1A"/>
                </a:solidFill>
                <a:latin typeface="Times New Roman" panose="02020603050405020304" pitchFamily="18" charset="0"/>
                <a:ea typeface="Calibri" pitchFamily="34" charset="-122"/>
                <a:cs typeface="Times New Roman" panose="02020603050405020304" pitchFamily="18" charset="0"/>
              </a:rPr>
              <a:t>Do pricier laptops rate better?</a:t>
            </a:r>
            <a:endParaRPr lang="en-US" sz="1400" dirty="0">
              <a:latin typeface="Times New Roman" panose="02020603050405020304" pitchFamily="18" charset="0"/>
              <a:cs typeface="Times New Roman" panose="02020603050405020304" pitchFamily="18" charset="0"/>
            </a:endParaRPr>
          </a:p>
        </p:txBody>
      </p:sp>
      <p:sp>
        <p:nvSpPr>
          <p:cNvPr id="27" name="Text 25"/>
          <p:cNvSpPr/>
          <p:nvPr/>
        </p:nvSpPr>
        <p:spPr>
          <a:xfrm>
            <a:off x="6446520" y="4562856"/>
            <a:ext cx="4983480" cy="594360"/>
          </a:xfrm>
          <a:prstGeom prst="rect">
            <a:avLst/>
          </a:prstGeom>
          <a:noFill/>
          <a:ln/>
        </p:spPr>
        <p:txBody>
          <a:bodyPr wrap="square" rtlCol="0" anchor="ctr"/>
          <a:lstStyle/>
          <a:p>
            <a:pPr marL="0" indent="0">
              <a:buNone/>
            </a:pPr>
            <a:r>
              <a:rPr lang="en-US" sz="1400" dirty="0">
                <a:solidFill>
                  <a:srgbClr val="3A3A3A"/>
                </a:solidFill>
                <a:latin typeface="Times New Roman" panose="02020603050405020304" pitchFamily="18" charset="0"/>
                <a:ea typeface="Calibri" pitchFamily="34" charset="-122"/>
                <a:cs typeface="Times New Roman" panose="02020603050405020304" pitchFamily="18" charset="0"/>
              </a:rPr>
              <a:t>Only marginally — ratings stay ~4.18–4.19 across all price bands</a:t>
            </a:r>
            <a:endParaRPr lang="en-US" sz="1400" dirty="0">
              <a:latin typeface="Times New Roman" panose="02020603050405020304" pitchFamily="18" charset="0"/>
              <a:cs typeface="Times New Roman" panose="02020603050405020304" pitchFamily="18" charset="0"/>
            </a:endParaRPr>
          </a:p>
        </p:txBody>
      </p:sp>
      <p:sp>
        <p:nvSpPr>
          <p:cNvPr id="28" name="Shape 26"/>
          <p:cNvSpPr/>
          <p:nvPr/>
        </p:nvSpPr>
        <p:spPr>
          <a:xfrm>
            <a:off x="548640" y="5422392"/>
            <a:ext cx="5394960" cy="1170432"/>
          </a:xfrm>
          <a:prstGeom prst="rect">
            <a:avLst/>
          </a:prstGeom>
          <a:solidFill>
            <a:srgbClr val="F2F2F2"/>
          </a:solidFill>
          <a:ln/>
        </p:spPr>
        <p:txBody>
          <a:bodyPr/>
          <a:lstStyle/>
          <a:p>
            <a:endParaRPr lang="en-IN" sz="1400">
              <a:latin typeface="Times New Roman" panose="02020603050405020304" pitchFamily="18" charset="0"/>
              <a:cs typeface="Times New Roman" panose="02020603050405020304" pitchFamily="18" charset="0"/>
            </a:endParaRPr>
          </a:p>
        </p:txBody>
      </p:sp>
      <p:sp>
        <p:nvSpPr>
          <p:cNvPr id="29" name="Shape 27"/>
          <p:cNvSpPr/>
          <p:nvPr/>
        </p:nvSpPr>
        <p:spPr>
          <a:xfrm>
            <a:off x="548640" y="5422392"/>
            <a:ext cx="73152" cy="1170432"/>
          </a:xfrm>
          <a:prstGeom prst="rect">
            <a:avLst/>
          </a:prstGeom>
          <a:solidFill>
            <a:srgbClr val="C8102E"/>
          </a:solidFill>
          <a:ln/>
        </p:spPr>
        <p:txBody>
          <a:bodyPr/>
          <a:lstStyle/>
          <a:p>
            <a:endParaRPr lang="en-IN" sz="1400">
              <a:latin typeface="Times New Roman" panose="02020603050405020304" pitchFamily="18" charset="0"/>
              <a:cs typeface="Times New Roman" panose="02020603050405020304" pitchFamily="18" charset="0"/>
            </a:endParaRPr>
          </a:p>
        </p:txBody>
      </p:sp>
      <p:sp>
        <p:nvSpPr>
          <p:cNvPr id="30" name="Text 28"/>
          <p:cNvSpPr/>
          <p:nvPr/>
        </p:nvSpPr>
        <p:spPr>
          <a:xfrm>
            <a:off x="777240" y="5513832"/>
            <a:ext cx="4983480" cy="384048"/>
          </a:xfrm>
          <a:prstGeom prst="rect">
            <a:avLst/>
          </a:prstGeom>
          <a:noFill/>
          <a:ln/>
        </p:spPr>
        <p:txBody>
          <a:bodyPr wrap="square" rtlCol="0" anchor="ctr"/>
          <a:lstStyle/>
          <a:p>
            <a:pPr marL="0" indent="0">
              <a:buNone/>
            </a:pPr>
            <a:r>
              <a:rPr lang="en-US" sz="1400" b="1" dirty="0">
                <a:solidFill>
                  <a:srgbClr val="1A1A1A"/>
                </a:solidFill>
                <a:latin typeface="Times New Roman" panose="02020603050405020304" pitchFamily="18" charset="0"/>
                <a:ea typeface="Calibri" pitchFamily="34" charset="-122"/>
                <a:cs typeface="Times New Roman" panose="02020603050405020304" pitchFamily="18" charset="0"/>
              </a:rPr>
              <a:t>Highest average discount brand?</a:t>
            </a:r>
            <a:endParaRPr lang="en-US" sz="1400" dirty="0">
              <a:latin typeface="Times New Roman" panose="02020603050405020304" pitchFamily="18" charset="0"/>
              <a:cs typeface="Times New Roman" panose="02020603050405020304" pitchFamily="18" charset="0"/>
            </a:endParaRPr>
          </a:p>
        </p:txBody>
      </p:sp>
      <p:sp>
        <p:nvSpPr>
          <p:cNvPr id="31" name="Text 29"/>
          <p:cNvSpPr/>
          <p:nvPr/>
        </p:nvSpPr>
        <p:spPr>
          <a:xfrm>
            <a:off x="777240" y="5897880"/>
            <a:ext cx="4983480" cy="594360"/>
          </a:xfrm>
          <a:prstGeom prst="rect">
            <a:avLst/>
          </a:prstGeom>
          <a:noFill/>
          <a:ln/>
        </p:spPr>
        <p:txBody>
          <a:bodyPr wrap="square" rtlCol="0" anchor="ctr"/>
          <a:lstStyle/>
          <a:p>
            <a:pPr marL="0" indent="0">
              <a:buNone/>
            </a:pPr>
            <a:r>
              <a:rPr lang="en-US" sz="1400" dirty="0">
                <a:solidFill>
                  <a:srgbClr val="3A3A3A"/>
                </a:solidFill>
                <a:latin typeface="Times New Roman" panose="02020603050405020304" pitchFamily="18" charset="0"/>
                <a:ea typeface="Calibri" pitchFamily="34" charset="-122"/>
                <a:cs typeface="Times New Roman" panose="02020603050405020304" pitchFamily="18" charset="0"/>
              </a:rPr>
              <a:t>WarnerCann (avg. 29.0% off)</a:t>
            </a:r>
            <a:endParaRPr lang="en-US" sz="1400" dirty="0">
              <a:latin typeface="Times New Roman" panose="02020603050405020304" pitchFamily="18" charset="0"/>
              <a:cs typeface="Times New Roman" panose="02020603050405020304" pitchFamily="18" charset="0"/>
            </a:endParaRPr>
          </a:p>
        </p:txBody>
      </p:sp>
      <p:sp>
        <p:nvSpPr>
          <p:cNvPr id="32" name="Shape 30"/>
          <p:cNvSpPr/>
          <p:nvPr/>
        </p:nvSpPr>
        <p:spPr>
          <a:xfrm>
            <a:off x="6217920" y="5422392"/>
            <a:ext cx="5394960" cy="1170432"/>
          </a:xfrm>
          <a:prstGeom prst="rect">
            <a:avLst/>
          </a:prstGeom>
          <a:solidFill>
            <a:srgbClr val="F2F2F2"/>
          </a:solidFill>
          <a:ln/>
        </p:spPr>
        <p:txBody>
          <a:bodyPr/>
          <a:lstStyle/>
          <a:p>
            <a:endParaRPr lang="en-IN" sz="1400">
              <a:latin typeface="Times New Roman" panose="02020603050405020304" pitchFamily="18" charset="0"/>
              <a:cs typeface="Times New Roman" panose="02020603050405020304" pitchFamily="18" charset="0"/>
            </a:endParaRPr>
          </a:p>
        </p:txBody>
      </p:sp>
      <p:sp>
        <p:nvSpPr>
          <p:cNvPr id="33" name="Shape 31"/>
          <p:cNvSpPr/>
          <p:nvPr/>
        </p:nvSpPr>
        <p:spPr>
          <a:xfrm>
            <a:off x="6217920" y="5422392"/>
            <a:ext cx="73152" cy="1170432"/>
          </a:xfrm>
          <a:prstGeom prst="rect">
            <a:avLst/>
          </a:prstGeom>
          <a:solidFill>
            <a:srgbClr val="C8102E"/>
          </a:solidFill>
          <a:ln/>
        </p:spPr>
        <p:txBody>
          <a:bodyPr/>
          <a:lstStyle/>
          <a:p>
            <a:endParaRPr lang="en-IN" sz="1400">
              <a:latin typeface="Times New Roman" panose="02020603050405020304" pitchFamily="18" charset="0"/>
              <a:cs typeface="Times New Roman" panose="02020603050405020304" pitchFamily="18" charset="0"/>
            </a:endParaRPr>
          </a:p>
        </p:txBody>
      </p:sp>
      <p:sp>
        <p:nvSpPr>
          <p:cNvPr id="34" name="Text 32"/>
          <p:cNvSpPr/>
          <p:nvPr/>
        </p:nvSpPr>
        <p:spPr>
          <a:xfrm>
            <a:off x="6446520" y="5513832"/>
            <a:ext cx="4983480" cy="384048"/>
          </a:xfrm>
          <a:prstGeom prst="rect">
            <a:avLst/>
          </a:prstGeom>
          <a:noFill/>
          <a:ln/>
        </p:spPr>
        <p:txBody>
          <a:bodyPr wrap="square" rtlCol="0" anchor="ctr"/>
          <a:lstStyle/>
          <a:p>
            <a:pPr marL="0" indent="0">
              <a:buNone/>
            </a:pPr>
            <a:r>
              <a:rPr lang="en-US" sz="1400" b="1" dirty="0">
                <a:solidFill>
                  <a:srgbClr val="1A1A1A"/>
                </a:solidFill>
                <a:latin typeface="Times New Roman" panose="02020603050405020304" pitchFamily="18" charset="0"/>
                <a:ea typeface="Calibri" pitchFamily="34" charset="-122"/>
                <a:cs typeface="Times New Roman" panose="02020603050405020304" pitchFamily="18" charset="0"/>
              </a:rPr>
              <a:t>Price vs. discount vs. rating link?</a:t>
            </a:r>
            <a:endParaRPr lang="en-US" sz="1400" dirty="0">
              <a:latin typeface="Times New Roman" panose="02020603050405020304" pitchFamily="18" charset="0"/>
              <a:cs typeface="Times New Roman" panose="02020603050405020304" pitchFamily="18" charset="0"/>
            </a:endParaRPr>
          </a:p>
        </p:txBody>
      </p:sp>
      <p:sp>
        <p:nvSpPr>
          <p:cNvPr id="35" name="Text 33"/>
          <p:cNvSpPr/>
          <p:nvPr/>
        </p:nvSpPr>
        <p:spPr>
          <a:xfrm>
            <a:off x="6446520" y="5897880"/>
            <a:ext cx="4983480" cy="594360"/>
          </a:xfrm>
          <a:prstGeom prst="rect">
            <a:avLst/>
          </a:prstGeom>
          <a:noFill/>
          <a:ln/>
        </p:spPr>
        <p:txBody>
          <a:bodyPr wrap="square" rtlCol="0" anchor="ctr"/>
          <a:lstStyle/>
          <a:p>
            <a:pPr marL="0" indent="0">
              <a:buNone/>
            </a:pPr>
            <a:r>
              <a:rPr lang="en-US" sz="1400" dirty="0">
                <a:solidFill>
                  <a:srgbClr val="3A3A3A"/>
                </a:solidFill>
                <a:latin typeface="Times New Roman" panose="02020603050405020304" pitchFamily="18" charset="0"/>
                <a:ea typeface="Calibri" pitchFamily="34" charset="-122"/>
                <a:cs typeface="Times New Roman" panose="02020603050405020304" pitchFamily="18" charset="0"/>
              </a:rPr>
              <a:t>Essentially no correlation between the three (all near 0.00)</a:t>
            </a:r>
            <a:endParaRPr lang="en-US" sz="1400" dirty="0">
              <a:latin typeface="Times New Roman" panose="02020603050405020304" pitchFamily="18" charset="0"/>
              <a:cs typeface="Times New Roman" panose="02020603050405020304" pitchFamily="18" charset="0"/>
            </a:endParaRPr>
          </a:p>
        </p:txBody>
      </p:sp>
      <p:sp>
        <p:nvSpPr>
          <p:cNvPr id="37" name="Text 35"/>
          <p:cNvSpPr/>
          <p:nvPr/>
        </p:nvSpPr>
        <p:spPr>
          <a:xfrm>
            <a:off x="11274552" y="6537960"/>
            <a:ext cx="457200" cy="274320"/>
          </a:xfrm>
          <a:prstGeom prst="rect">
            <a:avLst/>
          </a:prstGeom>
          <a:noFill/>
          <a:ln/>
        </p:spPr>
        <p:txBody>
          <a:bodyPr wrap="square" rtlCol="0" anchor="ctr"/>
          <a:lstStyle/>
          <a:p>
            <a:pPr marL="0" indent="0" algn="r">
              <a:buNone/>
            </a:pPr>
            <a:r>
              <a:rPr lang="en-US" sz="1400" dirty="0">
                <a:solidFill>
                  <a:srgbClr val="6B6B6B"/>
                </a:solidFill>
                <a:latin typeface="Times New Roman" panose="02020603050405020304" pitchFamily="18" charset="0"/>
                <a:ea typeface="Calibri" pitchFamily="34" charset="-122"/>
                <a:cs typeface="Times New Roman" panose="02020603050405020304" pitchFamily="18" charset="0"/>
              </a:rPr>
              <a:t>13</a:t>
            </a:r>
            <a:endParaRPr lang="en-US"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A1A1A"/>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457200"/>
          </a:xfrm>
          <a:prstGeom prst="rect">
            <a:avLst/>
          </a:prstGeom>
          <a:noFill/>
          <a:ln/>
        </p:spPr>
        <p:txBody>
          <a:bodyPr wrap="square" rtlCol="0" anchor="ctr"/>
          <a:lstStyle/>
          <a:p>
            <a:pPr marL="0" indent="0">
              <a:buNone/>
            </a:pPr>
            <a:r>
              <a:rPr lang="en-US" sz="1300" b="1" kern="0" spc="200" dirty="0">
                <a:solidFill>
                  <a:srgbClr val="C8102E"/>
                </a:solidFill>
                <a:latin typeface="Calibri" pitchFamily="34" charset="0"/>
                <a:ea typeface="Calibri" pitchFamily="34" charset="-122"/>
                <a:cs typeface="Calibri" pitchFamily="34" charset="-120"/>
              </a:rPr>
              <a:t>KEY INSIGHTS</a:t>
            </a:r>
            <a:endParaRPr lang="en-US" sz="1300" dirty="0"/>
          </a:p>
        </p:txBody>
      </p:sp>
      <p:sp>
        <p:nvSpPr>
          <p:cNvPr id="3" name="Text 1"/>
          <p:cNvSpPr/>
          <p:nvPr/>
        </p:nvSpPr>
        <p:spPr>
          <a:xfrm>
            <a:off x="548640" y="685800"/>
            <a:ext cx="10515600" cy="640080"/>
          </a:xfrm>
          <a:prstGeom prst="rect">
            <a:avLst/>
          </a:prstGeom>
          <a:noFill/>
          <a:ln/>
        </p:spPr>
        <p:txBody>
          <a:bodyPr wrap="square" rtlCol="0" anchor="ctr"/>
          <a:lstStyle/>
          <a:p>
            <a:pPr marL="0" indent="0">
              <a:buNone/>
            </a:pPr>
            <a:r>
              <a:rPr lang="en-US" sz="2800" b="1" dirty="0">
                <a:solidFill>
                  <a:srgbClr val="FFFFFF"/>
                </a:solidFill>
                <a:latin typeface="Cambria" pitchFamily="34" charset="0"/>
                <a:ea typeface="Cambria" pitchFamily="34" charset="-122"/>
                <a:cs typeface="Cambria" pitchFamily="34" charset="-120"/>
              </a:rPr>
              <a:t>What the Data Tells Us</a:t>
            </a:r>
            <a:endParaRPr lang="en-US" sz="2800" dirty="0"/>
          </a:p>
        </p:txBody>
      </p:sp>
      <p:sp>
        <p:nvSpPr>
          <p:cNvPr id="4" name="Shape 2"/>
          <p:cNvSpPr/>
          <p:nvPr/>
        </p:nvSpPr>
        <p:spPr>
          <a:xfrm>
            <a:off x="594360" y="1490472"/>
            <a:ext cx="5394960" cy="1161288"/>
          </a:xfrm>
          <a:prstGeom prst="rect">
            <a:avLst/>
          </a:prstGeom>
          <a:solidFill>
            <a:srgbClr val="3A3A3A"/>
          </a:solidFill>
          <a:ln/>
        </p:spPr>
        <p:txBody>
          <a:bodyPr/>
          <a:lstStyle/>
          <a:p>
            <a:endParaRPr lang="en-IN"/>
          </a:p>
        </p:txBody>
      </p:sp>
      <p:sp>
        <p:nvSpPr>
          <p:cNvPr id="5" name="Shape 3"/>
          <p:cNvSpPr/>
          <p:nvPr/>
        </p:nvSpPr>
        <p:spPr>
          <a:xfrm>
            <a:off x="777240" y="1828800"/>
            <a:ext cx="457200" cy="457200"/>
          </a:xfrm>
          <a:prstGeom prst="ellipse">
            <a:avLst/>
          </a:prstGeom>
          <a:solidFill>
            <a:srgbClr val="C8102E"/>
          </a:solidFill>
          <a:ln/>
        </p:spPr>
        <p:txBody>
          <a:bodyPr/>
          <a:lstStyle/>
          <a:p>
            <a:endParaRPr lang="en-IN"/>
          </a:p>
        </p:txBody>
      </p:sp>
      <p:sp>
        <p:nvSpPr>
          <p:cNvPr id="6" name="Text 4"/>
          <p:cNvSpPr/>
          <p:nvPr/>
        </p:nvSpPr>
        <p:spPr>
          <a:xfrm>
            <a:off x="777240" y="1828800"/>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p:nvPr/>
        </p:nvSpPr>
        <p:spPr>
          <a:xfrm>
            <a:off x="1234440" y="1417320"/>
            <a:ext cx="4297680" cy="1280160"/>
          </a:xfrm>
          <a:prstGeom prst="rect">
            <a:avLst/>
          </a:prstGeom>
          <a:noFill/>
          <a:ln/>
        </p:spPr>
        <p:txBody>
          <a:bodyPr wrap="square" rtlCol="0" anchor="ctr"/>
          <a:lstStyle/>
          <a:p>
            <a:pPr marL="0" indent="0">
              <a:lnSpc>
                <a:spcPct val="120000"/>
              </a:lnSpc>
              <a:buNone/>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ASUS leads the online laptop market on both volume and premium-segment presence.</a:t>
            </a:r>
            <a:endParaRPr lang="en-US" sz="1600" dirty="0">
              <a:latin typeface="Times New Roman" panose="02020603050405020304" pitchFamily="18" charset="0"/>
              <a:cs typeface="Times New Roman" panose="02020603050405020304" pitchFamily="18" charset="0"/>
            </a:endParaRPr>
          </a:p>
        </p:txBody>
      </p:sp>
      <p:sp>
        <p:nvSpPr>
          <p:cNvPr id="8" name="Shape 6"/>
          <p:cNvSpPr/>
          <p:nvPr/>
        </p:nvSpPr>
        <p:spPr>
          <a:xfrm>
            <a:off x="6217920" y="1485900"/>
            <a:ext cx="5394960" cy="1161288"/>
          </a:xfrm>
          <a:prstGeom prst="rect">
            <a:avLst/>
          </a:prstGeom>
          <a:solidFill>
            <a:srgbClr val="3A3A3A"/>
          </a:solidFill>
          <a:ln/>
        </p:spPr>
        <p:txBody>
          <a:bodyPr/>
          <a:lstStyle/>
          <a:p>
            <a:endParaRPr lang="en-IN"/>
          </a:p>
        </p:txBody>
      </p:sp>
      <p:sp>
        <p:nvSpPr>
          <p:cNvPr id="9" name="Shape 7"/>
          <p:cNvSpPr/>
          <p:nvPr/>
        </p:nvSpPr>
        <p:spPr>
          <a:xfrm>
            <a:off x="6446520" y="1828800"/>
            <a:ext cx="457200" cy="457200"/>
          </a:xfrm>
          <a:prstGeom prst="ellipse">
            <a:avLst/>
          </a:prstGeom>
          <a:solidFill>
            <a:srgbClr val="C8102E"/>
          </a:solidFill>
          <a:ln/>
        </p:spPr>
        <p:txBody>
          <a:bodyPr/>
          <a:lstStyle/>
          <a:p>
            <a:endParaRPr lang="en-IN"/>
          </a:p>
        </p:txBody>
      </p:sp>
      <p:sp>
        <p:nvSpPr>
          <p:cNvPr id="10" name="Text 8"/>
          <p:cNvSpPr/>
          <p:nvPr/>
        </p:nvSpPr>
        <p:spPr>
          <a:xfrm>
            <a:off x="6446520" y="1828800"/>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1" name="Text 9"/>
          <p:cNvSpPr/>
          <p:nvPr/>
        </p:nvSpPr>
        <p:spPr>
          <a:xfrm>
            <a:off x="6976872" y="1367028"/>
            <a:ext cx="4297680" cy="1280160"/>
          </a:xfrm>
          <a:prstGeom prst="rect">
            <a:avLst/>
          </a:prstGeom>
          <a:noFill/>
          <a:ln/>
        </p:spPr>
        <p:txBody>
          <a:bodyPr wrap="square" rtlCol="0" anchor="ctr"/>
          <a:lstStyle/>
          <a:p>
            <a:pPr marL="0" indent="0">
              <a:lnSpc>
                <a:spcPct val="120000"/>
              </a:lnSpc>
              <a:buNone/>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The typical listing sits around ₹48,990 — squarely in the mid-to-premium range.</a:t>
            </a:r>
            <a:endParaRPr lang="en-US" sz="1600" dirty="0">
              <a:latin typeface="Times New Roman" panose="02020603050405020304" pitchFamily="18" charset="0"/>
              <a:cs typeface="Times New Roman" panose="02020603050405020304" pitchFamily="18" charset="0"/>
            </a:endParaRPr>
          </a:p>
        </p:txBody>
      </p:sp>
      <p:sp>
        <p:nvSpPr>
          <p:cNvPr id="12" name="Shape 10"/>
          <p:cNvSpPr/>
          <p:nvPr/>
        </p:nvSpPr>
        <p:spPr>
          <a:xfrm>
            <a:off x="579121" y="2807421"/>
            <a:ext cx="5394960" cy="1334812"/>
          </a:xfrm>
          <a:prstGeom prst="rect">
            <a:avLst/>
          </a:prstGeom>
          <a:solidFill>
            <a:srgbClr val="3A3A3A"/>
          </a:solidFill>
          <a:ln/>
        </p:spPr>
        <p:txBody>
          <a:bodyPr/>
          <a:lstStyle/>
          <a:p>
            <a:endParaRPr lang="en-IN"/>
          </a:p>
        </p:txBody>
      </p:sp>
      <p:sp>
        <p:nvSpPr>
          <p:cNvPr id="13" name="Shape 11"/>
          <p:cNvSpPr/>
          <p:nvPr/>
        </p:nvSpPr>
        <p:spPr>
          <a:xfrm>
            <a:off x="777240" y="3241548"/>
            <a:ext cx="457200" cy="457200"/>
          </a:xfrm>
          <a:prstGeom prst="ellipse">
            <a:avLst/>
          </a:prstGeom>
          <a:solidFill>
            <a:srgbClr val="C8102E"/>
          </a:solidFill>
          <a:ln/>
        </p:spPr>
        <p:txBody>
          <a:bodyPr/>
          <a:lstStyle/>
          <a:p>
            <a:endParaRPr lang="en-IN"/>
          </a:p>
        </p:txBody>
      </p:sp>
      <p:sp>
        <p:nvSpPr>
          <p:cNvPr id="14" name="Text 12"/>
          <p:cNvSpPr/>
          <p:nvPr/>
        </p:nvSpPr>
        <p:spPr>
          <a:xfrm>
            <a:off x="797266" y="3250479"/>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5" name="Text 13"/>
          <p:cNvSpPr/>
          <p:nvPr/>
        </p:nvSpPr>
        <p:spPr>
          <a:xfrm>
            <a:off x="1234440" y="2816352"/>
            <a:ext cx="4297680" cy="1280160"/>
          </a:xfrm>
          <a:prstGeom prst="rect">
            <a:avLst/>
          </a:prstGeom>
          <a:noFill/>
          <a:ln/>
        </p:spPr>
        <p:txBody>
          <a:bodyPr wrap="square" rtlCol="0" anchor="ctr"/>
          <a:lstStyle/>
          <a:p>
            <a:pPr marL="0" indent="0">
              <a:lnSpc>
                <a:spcPct val="120000"/>
              </a:lnSpc>
              <a:buNone/>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16 GB RAM and 512 GB SSD are now the mainstream standard configuration.</a:t>
            </a:r>
            <a:endParaRPr lang="en-US" sz="1600" dirty="0">
              <a:latin typeface="Times New Roman" panose="02020603050405020304" pitchFamily="18" charset="0"/>
              <a:cs typeface="Times New Roman" panose="02020603050405020304" pitchFamily="18" charset="0"/>
            </a:endParaRPr>
          </a:p>
        </p:txBody>
      </p:sp>
      <p:sp>
        <p:nvSpPr>
          <p:cNvPr id="16" name="Shape 14"/>
          <p:cNvSpPr/>
          <p:nvPr/>
        </p:nvSpPr>
        <p:spPr>
          <a:xfrm>
            <a:off x="6202682" y="2807207"/>
            <a:ext cx="5394960" cy="1335025"/>
          </a:xfrm>
          <a:prstGeom prst="rect">
            <a:avLst/>
          </a:prstGeom>
          <a:solidFill>
            <a:srgbClr val="3A3A3A"/>
          </a:solidFill>
          <a:ln/>
        </p:spPr>
        <p:txBody>
          <a:bodyPr/>
          <a:lstStyle/>
          <a:p>
            <a:endParaRPr lang="en-IN"/>
          </a:p>
        </p:txBody>
      </p:sp>
      <p:sp>
        <p:nvSpPr>
          <p:cNvPr id="17" name="Shape 15"/>
          <p:cNvSpPr/>
          <p:nvPr/>
        </p:nvSpPr>
        <p:spPr>
          <a:xfrm>
            <a:off x="6465659" y="3184398"/>
            <a:ext cx="457200" cy="457200"/>
          </a:xfrm>
          <a:prstGeom prst="ellipse">
            <a:avLst/>
          </a:prstGeom>
          <a:solidFill>
            <a:srgbClr val="C8102E"/>
          </a:solidFill>
          <a:ln/>
        </p:spPr>
        <p:txBody>
          <a:bodyPr/>
          <a:lstStyle/>
          <a:p>
            <a:endParaRPr lang="en-IN"/>
          </a:p>
        </p:txBody>
      </p:sp>
      <p:sp>
        <p:nvSpPr>
          <p:cNvPr id="18" name="Text 16"/>
          <p:cNvSpPr/>
          <p:nvPr/>
        </p:nvSpPr>
        <p:spPr>
          <a:xfrm>
            <a:off x="6465659" y="3172968"/>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9" name="Text 17"/>
          <p:cNvSpPr/>
          <p:nvPr/>
        </p:nvSpPr>
        <p:spPr>
          <a:xfrm>
            <a:off x="6976872" y="2724912"/>
            <a:ext cx="4407408" cy="1417320"/>
          </a:xfrm>
          <a:prstGeom prst="rect">
            <a:avLst/>
          </a:prstGeom>
          <a:noFill/>
          <a:ln/>
        </p:spPr>
        <p:txBody>
          <a:bodyPr wrap="square" rtlCol="0" anchor="ctr"/>
          <a:lstStyle/>
          <a:p>
            <a:pPr marL="0" indent="0">
              <a:lnSpc>
                <a:spcPct val="120000"/>
              </a:lnSpc>
              <a:buNone/>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Processor and RAM size are meaningful price drivers; discount depth and rating are not.</a:t>
            </a:r>
            <a:endParaRPr lang="en-US" sz="1600" dirty="0">
              <a:latin typeface="Times New Roman" panose="02020603050405020304" pitchFamily="18" charset="0"/>
              <a:cs typeface="Times New Roman" panose="02020603050405020304" pitchFamily="18" charset="0"/>
            </a:endParaRPr>
          </a:p>
        </p:txBody>
      </p:sp>
      <p:sp>
        <p:nvSpPr>
          <p:cNvPr id="20" name="Shape 18"/>
          <p:cNvSpPr/>
          <p:nvPr/>
        </p:nvSpPr>
        <p:spPr>
          <a:xfrm>
            <a:off x="594360" y="4297895"/>
            <a:ext cx="5394960" cy="1477816"/>
          </a:xfrm>
          <a:prstGeom prst="rect">
            <a:avLst/>
          </a:prstGeom>
          <a:solidFill>
            <a:srgbClr val="3A3A3A"/>
          </a:solidFill>
          <a:ln/>
        </p:spPr>
        <p:txBody>
          <a:bodyPr/>
          <a:lstStyle/>
          <a:p>
            <a:endParaRPr lang="en-IN" dirty="0"/>
          </a:p>
        </p:txBody>
      </p:sp>
      <p:sp>
        <p:nvSpPr>
          <p:cNvPr id="21" name="Shape 19"/>
          <p:cNvSpPr/>
          <p:nvPr/>
        </p:nvSpPr>
        <p:spPr>
          <a:xfrm>
            <a:off x="797266" y="4846320"/>
            <a:ext cx="457200" cy="457200"/>
          </a:xfrm>
          <a:prstGeom prst="ellipse">
            <a:avLst/>
          </a:prstGeom>
          <a:solidFill>
            <a:srgbClr val="C8102E"/>
          </a:solidFill>
          <a:ln/>
        </p:spPr>
        <p:txBody>
          <a:bodyPr/>
          <a:lstStyle/>
          <a:p>
            <a:endParaRPr lang="en-IN"/>
          </a:p>
        </p:txBody>
      </p:sp>
      <p:sp>
        <p:nvSpPr>
          <p:cNvPr id="22" name="Text 20"/>
          <p:cNvSpPr/>
          <p:nvPr/>
        </p:nvSpPr>
        <p:spPr>
          <a:xfrm>
            <a:off x="795316" y="4846320"/>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3" name="Text 21"/>
          <p:cNvSpPr/>
          <p:nvPr/>
        </p:nvSpPr>
        <p:spPr>
          <a:xfrm>
            <a:off x="1398181" y="4416552"/>
            <a:ext cx="4297680" cy="1280160"/>
          </a:xfrm>
          <a:prstGeom prst="rect">
            <a:avLst/>
          </a:prstGeom>
          <a:noFill/>
          <a:ln/>
        </p:spPr>
        <p:txBody>
          <a:bodyPr wrap="square" rtlCol="0" anchor="ctr"/>
          <a:lstStyle/>
          <a:p>
            <a:pPr marL="0" indent="0">
              <a:lnSpc>
                <a:spcPct val="120000"/>
              </a:lnSpc>
              <a:buNone/>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Customer satisfaction (avg. rating ~4.19/5) is consistently high across every price band.</a:t>
            </a:r>
            <a:endParaRPr lang="en-US" sz="1600" dirty="0">
              <a:latin typeface="Times New Roman" panose="02020603050405020304" pitchFamily="18" charset="0"/>
              <a:cs typeface="Times New Roman" panose="02020603050405020304" pitchFamily="18" charset="0"/>
            </a:endParaRPr>
          </a:p>
        </p:txBody>
      </p:sp>
      <p:sp>
        <p:nvSpPr>
          <p:cNvPr id="24" name="Shape 22"/>
          <p:cNvSpPr/>
          <p:nvPr/>
        </p:nvSpPr>
        <p:spPr>
          <a:xfrm>
            <a:off x="6202682" y="4297895"/>
            <a:ext cx="5394960" cy="1477816"/>
          </a:xfrm>
          <a:prstGeom prst="rect">
            <a:avLst/>
          </a:prstGeom>
          <a:solidFill>
            <a:srgbClr val="3A3A3A"/>
          </a:solidFill>
          <a:ln/>
        </p:spPr>
        <p:txBody>
          <a:bodyPr/>
          <a:lstStyle/>
          <a:p>
            <a:endParaRPr lang="en-IN"/>
          </a:p>
        </p:txBody>
      </p:sp>
      <p:sp>
        <p:nvSpPr>
          <p:cNvPr id="25" name="Shape 23"/>
          <p:cNvSpPr/>
          <p:nvPr/>
        </p:nvSpPr>
        <p:spPr>
          <a:xfrm>
            <a:off x="6446520" y="4869395"/>
            <a:ext cx="457200" cy="457200"/>
          </a:xfrm>
          <a:prstGeom prst="ellipse">
            <a:avLst/>
          </a:prstGeom>
          <a:solidFill>
            <a:srgbClr val="C8102E"/>
          </a:solidFill>
          <a:ln/>
        </p:spPr>
        <p:txBody>
          <a:bodyPr/>
          <a:lstStyle/>
          <a:p>
            <a:endParaRPr lang="en-IN"/>
          </a:p>
        </p:txBody>
      </p:sp>
      <p:sp>
        <p:nvSpPr>
          <p:cNvPr id="26" name="Text 24"/>
          <p:cNvSpPr/>
          <p:nvPr/>
        </p:nvSpPr>
        <p:spPr>
          <a:xfrm>
            <a:off x="6431635" y="4866522"/>
            <a:ext cx="457200" cy="45720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27" name="Text 25"/>
          <p:cNvSpPr/>
          <p:nvPr/>
        </p:nvSpPr>
        <p:spPr>
          <a:xfrm>
            <a:off x="6976872" y="4416552"/>
            <a:ext cx="4297680" cy="1280160"/>
          </a:xfrm>
          <a:prstGeom prst="rect">
            <a:avLst/>
          </a:prstGeom>
          <a:noFill/>
          <a:ln/>
        </p:spPr>
        <p:txBody>
          <a:bodyPr wrap="square" rtlCol="0" anchor="ctr"/>
          <a:lstStyle/>
          <a:p>
            <a:pPr marL="0" indent="0">
              <a:lnSpc>
                <a:spcPct val="120000"/>
              </a:lnSpc>
              <a:buNone/>
            </a:pPr>
            <a:r>
              <a:rPr lang="en-US" sz="1600" dirty="0">
                <a:solidFill>
                  <a:srgbClr val="FFFFFF"/>
                </a:solidFill>
                <a:latin typeface="Times New Roman" panose="02020603050405020304" pitchFamily="18" charset="0"/>
                <a:ea typeface="Calibri" pitchFamily="34" charset="-122"/>
                <a:cs typeface="Times New Roman" panose="02020603050405020304" pitchFamily="18" charset="0"/>
              </a:rPr>
              <a:t>Nearly half of all listings (48%) already sit in the Premium (≥₹80k) segment.</a:t>
            </a:r>
            <a:endParaRPr lang="en-US" sz="1600" dirty="0">
              <a:latin typeface="Times New Roman" panose="02020603050405020304" pitchFamily="18" charset="0"/>
              <a:cs typeface="Times New Roman" panose="02020603050405020304" pitchFamily="18" charset="0"/>
            </a:endParaRPr>
          </a:p>
        </p:txBody>
      </p:sp>
      <p:sp>
        <p:nvSpPr>
          <p:cNvPr id="29" name="Text 27"/>
          <p:cNvSpPr/>
          <p:nvPr/>
        </p:nvSpPr>
        <p:spPr>
          <a:xfrm>
            <a:off x="11274552" y="6537960"/>
            <a:ext cx="45720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65760"/>
            <a:ext cx="10515600" cy="731520"/>
          </a:xfrm>
          <a:prstGeom prst="rect">
            <a:avLst/>
          </a:prstGeom>
          <a:noFill/>
          <a:ln/>
        </p:spPr>
        <p:txBody>
          <a:bodyPr wrap="square"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Recommendations</a:t>
            </a:r>
            <a:endParaRPr lang="en-US" sz="3000" dirty="0"/>
          </a:p>
        </p:txBody>
      </p:sp>
      <p:sp>
        <p:nvSpPr>
          <p:cNvPr id="3" name="Shape 1"/>
          <p:cNvSpPr/>
          <p:nvPr/>
        </p:nvSpPr>
        <p:spPr>
          <a:xfrm>
            <a:off x="548640" y="1463040"/>
            <a:ext cx="3566160" cy="2148840"/>
          </a:xfrm>
          <a:prstGeom prst="rect">
            <a:avLst/>
          </a:prstGeom>
          <a:solidFill>
            <a:srgbClr val="F2F2F2"/>
          </a:solidFill>
          <a:ln/>
        </p:spPr>
        <p:txBody>
          <a:bodyPr/>
          <a:lstStyle/>
          <a:p>
            <a:endParaRPr lang="en-IN"/>
          </a:p>
        </p:txBody>
      </p:sp>
      <p:sp>
        <p:nvSpPr>
          <p:cNvPr id="4" name="Text 2"/>
          <p:cNvSpPr/>
          <p:nvPr/>
        </p:nvSpPr>
        <p:spPr>
          <a:xfrm>
            <a:off x="749808" y="1645920"/>
            <a:ext cx="3163824" cy="594360"/>
          </a:xfrm>
          <a:prstGeom prst="rect">
            <a:avLst/>
          </a:prstGeom>
          <a:noFill/>
          <a:ln/>
        </p:spPr>
        <p:txBody>
          <a:bodyPr wrap="square" rtlCol="0" anchor="ctr"/>
          <a:lstStyle/>
          <a:p>
            <a:pPr marL="0" indent="0">
              <a:buNone/>
            </a:pPr>
            <a:r>
              <a:rPr lang="en-US" sz="1600" b="1" dirty="0">
                <a:solidFill>
                  <a:srgbClr val="C8102E"/>
                </a:solidFill>
                <a:latin typeface="Times New Roman" panose="02020603050405020304" pitchFamily="18" charset="0"/>
                <a:ea typeface="Calibri" pitchFamily="34" charset="-122"/>
                <a:cs typeface="Times New Roman" panose="02020603050405020304" pitchFamily="18" charset="0"/>
              </a:rPr>
              <a:t>Expand Mid-Range Availability</a:t>
            </a:r>
            <a:endParaRPr lang="en-US" sz="1600" dirty="0">
              <a:latin typeface="Times New Roman" panose="02020603050405020304" pitchFamily="18" charset="0"/>
              <a:cs typeface="Times New Roman" panose="02020603050405020304" pitchFamily="18" charset="0"/>
            </a:endParaRPr>
          </a:p>
        </p:txBody>
      </p:sp>
      <p:sp>
        <p:nvSpPr>
          <p:cNvPr id="5" name="Text 3"/>
          <p:cNvSpPr/>
          <p:nvPr/>
        </p:nvSpPr>
        <p:spPr>
          <a:xfrm>
            <a:off x="749808" y="2240280"/>
            <a:ext cx="3163824" cy="1234440"/>
          </a:xfrm>
          <a:prstGeom prst="rect">
            <a:avLst/>
          </a:prstGeom>
          <a:noFill/>
          <a:ln/>
        </p:spPr>
        <p:txBody>
          <a:bodyPr wrap="square" rtlCol="0" anchor="ctr"/>
          <a:lstStyle/>
          <a:p>
            <a:pPr marL="0" indent="0">
              <a:lnSpc>
                <a:spcPct val="120000"/>
              </a:lnSpc>
              <a:buNone/>
            </a:pPr>
            <a:r>
              <a:rPr lang="en-US" sz="1600" dirty="0">
                <a:solidFill>
                  <a:srgbClr val="3A3A3A"/>
                </a:solidFill>
                <a:latin typeface="Times New Roman" panose="02020603050405020304" pitchFamily="18" charset="0"/>
                <a:ea typeface="Calibri" pitchFamily="34" charset="-122"/>
                <a:cs typeface="Times New Roman" panose="02020603050405020304" pitchFamily="18" charset="0"/>
              </a:rPr>
              <a:t>Introduce more models in the ₹40,000–₹80,000 band where demand is concentrated.</a:t>
            </a:r>
            <a:endParaRPr lang="en-US" sz="1600" dirty="0">
              <a:latin typeface="Times New Roman" panose="02020603050405020304" pitchFamily="18" charset="0"/>
              <a:cs typeface="Times New Roman" panose="02020603050405020304" pitchFamily="18" charset="0"/>
            </a:endParaRPr>
          </a:p>
        </p:txBody>
      </p:sp>
      <p:sp>
        <p:nvSpPr>
          <p:cNvPr id="6" name="Shape 4"/>
          <p:cNvSpPr/>
          <p:nvPr/>
        </p:nvSpPr>
        <p:spPr>
          <a:xfrm>
            <a:off x="4297680" y="1463040"/>
            <a:ext cx="3566160" cy="2148840"/>
          </a:xfrm>
          <a:prstGeom prst="rect">
            <a:avLst/>
          </a:prstGeom>
          <a:solidFill>
            <a:srgbClr val="FBEAEA"/>
          </a:solidFill>
          <a:ln/>
        </p:spPr>
        <p:txBody>
          <a:bodyPr/>
          <a:lstStyle/>
          <a:p>
            <a:endParaRPr lang="en-IN"/>
          </a:p>
        </p:txBody>
      </p:sp>
      <p:sp>
        <p:nvSpPr>
          <p:cNvPr id="7" name="Text 5"/>
          <p:cNvSpPr/>
          <p:nvPr/>
        </p:nvSpPr>
        <p:spPr>
          <a:xfrm>
            <a:off x="4498848" y="1645920"/>
            <a:ext cx="3163824" cy="594360"/>
          </a:xfrm>
          <a:prstGeom prst="rect">
            <a:avLst/>
          </a:prstGeom>
          <a:noFill/>
          <a:ln/>
        </p:spPr>
        <p:txBody>
          <a:bodyPr wrap="square" rtlCol="0" anchor="ctr"/>
          <a:lstStyle/>
          <a:p>
            <a:pPr marL="0" indent="0">
              <a:buNone/>
            </a:pPr>
            <a:r>
              <a:rPr lang="en-US" sz="1600" b="1" dirty="0">
                <a:solidFill>
                  <a:srgbClr val="C8102E"/>
                </a:solidFill>
                <a:latin typeface="Times New Roman" panose="02020603050405020304" pitchFamily="18" charset="0"/>
                <a:ea typeface="Calibri" pitchFamily="34" charset="-122"/>
                <a:cs typeface="Times New Roman" panose="02020603050405020304" pitchFamily="18" charset="0"/>
              </a:rPr>
              <a:t>Prioritize High-Demand Configs</a:t>
            </a:r>
            <a:endParaRPr lang="en-US" sz="1600" dirty="0">
              <a:latin typeface="Times New Roman" panose="02020603050405020304" pitchFamily="18" charset="0"/>
              <a:cs typeface="Times New Roman" panose="02020603050405020304" pitchFamily="18" charset="0"/>
            </a:endParaRPr>
          </a:p>
        </p:txBody>
      </p:sp>
      <p:sp>
        <p:nvSpPr>
          <p:cNvPr id="8" name="Text 6"/>
          <p:cNvSpPr/>
          <p:nvPr/>
        </p:nvSpPr>
        <p:spPr>
          <a:xfrm>
            <a:off x="4498848" y="2240280"/>
            <a:ext cx="3163824" cy="1234440"/>
          </a:xfrm>
          <a:prstGeom prst="rect">
            <a:avLst/>
          </a:prstGeom>
          <a:noFill/>
          <a:ln/>
        </p:spPr>
        <p:txBody>
          <a:bodyPr wrap="square" rtlCol="0" anchor="ctr"/>
          <a:lstStyle/>
          <a:p>
            <a:pPr marL="0" indent="0">
              <a:lnSpc>
                <a:spcPct val="120000"/>
              </a:lnSpc>
              <a:buNone/>
            </a:pPr>
            <a:r>
              <a:rPr lang="en-US" sz="1600" dirty="0">
                <a:solidFill>
                  <a:srgbClr val="3A3A3A"/>
                </a:solidFill>
                <a:latin typeface="Times New Roman" panose="02020603050405020304" pitchFamily="18" charset="0"/>
                <a:ea typeface="Calibri" pitchFamily="34" charset="-122"/>
                <a:cs typeface="Times New Roman" panose="02020603050405020304" pitchFamily="18" charset="0"/>
              </a:rPr>
              <a:t>Focus manufacturing on i5/Ryzen 5, 16 GB RAM, 512 GB SSD builds.</a:t>
            </a:r>
            <a:endParaRPr lang="en-US" sz="1600" dirty="0">
              <a:latin typeface="Times New Roman" panose="02020603050405020304" pitchFamily="18" charset="0"/>
              <a:cs typeface="Times New Roman" panose="02020603050405020304" pitchFamily="18" charset="0"/>
            </a:endParaRPr>
          </a:p>
        </p:txBody>
      </p:sp>
      <p:sp>
        <p:nvSpPr>
          <p:cNvPr id="9" name="Shape 7"/>
          <p:cNvSpPr/>
          <p:nvPr/>
        </p:nvSpPr>
        <p:spPr>
          <a:xfrm>
            <a:off x="8046720" y="1463040"/>
            <a:ext cx="3566160" cy="2148840"/>
          </a:xfrm>
          <a:prstGeom prst="rect">
            <a:avLst/>
          </a:prstGeom>
          <a:solidFill>
            <a:srgbClr val="F2F2F2"/>
          </a:solidFill>
          <a:ln/>
        </p:spPr>
        <p:txBody>
          <a:bodyPr/>
          <a:lstStyle/>
          <a:p>
            <a:endParaRPr lang="en-IN"/>
          </a:p>
        </p:txBody>
      </p:sp>
      <p:sp>
        <p:nvSpPr>
          <p:cNvPr id="10" name="Text 8"/>
          <p:cNvSpPr/>
          <p:nvPr/>
        </p:nvSpPr>
        <p:spPr>
          <a:xfrm>
            <a:off x="8247888" y="1645920"/>
            <a:ext cx="3163824" cy="594360"/>
          </a:xfrm>
          <a:prstGeom prst="rect">
            <a:avLst/>
          </a:prstGeom>
          <a:noFill/>
          <a:ln/>
        </p:spPr>
        <p:txBody>
          <a:bodyPr wrap="square" rtlCol="0" anchor="ctr"/>
          <a:lstStyle/>
          <a:p>
            <a:pPr marL="0" indent="0">
              <a:buNone/>
            </a:pPr>
            <a:r>
              <a:rPr lang="en-US" sz="1600" b="1" dirty="0">
                <a:solidFill>
                  <a:srgbClr val="C8102E"/>
                </a:solidFill>
                <a:latin typeface="Times New Roman" panose="02020603050405020304" pitchFamily="18" charset="0"/>
                <a:ea typeface="Calibri" pitchFamily="34" charset="-122"/>
                <a:cs typeface="Times New Roman" panose="02020603050405020304" pitchFamily="18" charset="0"/>
              </a:rPr>
              <a:t>Compete on Value, Not Just Discounts</a:t>
            </a:r>
            <a:endParaRPr lang="en-US" sz="1600" dirty="0">
              <a:latin typeface="Times New Roman" panose="02020603050405020304" pitchFamily="18" charset="0"/>
              <a:cs typeface="Times New Roman" panose="02020603050405020304" pitchFamily="18" charset="0"/>
            </a:endParaRPr>
          </a:p>
        </p:txBody>
      </p:sp>
      <p:sp>
        <p:nvSpPr>
          <p:cNvPr id="11" name="Text 9"/>
          <p:cNvSpPr/>
          <p:nvPr/>
        </p:nvSpPr>
        <p:spPr>
          <a:xfrm>
            <a:off x="8247888" y="2240280"/>
            <a:ext cx="3163824" cy="1234440"/>
          </a:xfrm>
          <a:prstGeom prst="rect">
            <a:avLst/>
          </a:prstGeom>
          <a:noFill/>
          <a:ln/>
        </p:spPr>
        <p:txBody>
          <a:bodyPr wrap="square" rtlCol="0" anchor="ctr"/>
          <a:lstStyle/>
          <a:p>
            <a:pPr marL="0" indent="0">
              <a:lnSpc>
                <a:spcPct val="120000"/>
              </a:lnSpc>
              <a:buNone/>
            </a:pPr>
            <a:r>
              <a:rPr lang="en-US" sz="1600" dirty="0">
                <a:solidFill>
                  <a:srgbClr val="3A3A3A"/>
                </a:solidFill>
                <a:latin typeface="Times New Roman" panose="02020603050405020304" pitchFamily="18" charset="0"/>
                <a:ea typeface="Calibri" pitchFamily="34" charset="-122"/>
                <a:cs typeface="Times New Roman" panose="02020603050405020304" pitchFamily="18" charset="0"/>
              </a:rPr>
              <a:t>Since discount depth barely moves ratings, invest in build quality and service instead.</a:t>
            </a:r>
            <a:endParaRPr lang="en-US" sz="1600" dirty="0">
              <a:latin typeface="Times New Roman" panose="02020603050405020304" pitchFamily="18" charset="0"/>
              <a:cs typeface="Times New Roman" panose="02020603050405020304" pitchFamily="18" charset="0"/>
            </a:endParaRPr>
          </a:p>
        </p:txBody>
      </p:sp>
      <p:sp>
        <p:nvSpPr>
          <p:cNvPr id="12" name="Shape 10"/>
          <p:cNvSpPr/>
          <p:nvPr/>
        </p:nvSpPr>
        <p:spPr>
          <a:xfrm>
            <a:off x="548640" y="3840480"/>
            <a:ext cx="3566160" cy="2148840"/>
          </a:xfrm>
          <a:prstGeom prst="rect">
            <a:avLst/>
          </a:prstGeom>
          <a:solidFill>
            <a:srgbClr val="F2F2F2"/>
          </a:solidFill>
          <a:ln/>
        </p:spPr>
        <p:txBody>
          <a:bodyPr/>
          <a:lstStyle/>
          <a:p>
            <a:endParaRPr lang="en-IN"/>
          </a:p>
        </p:txBody>
      </p:sp>
      <p:sp>
        <p:nvSpPr>
          <p:cNvPr id="13" name="Text 11"/>
          <p:cNvSpPr/>
          <p:nvPr/>
        </p:nvSpPr>
        <p:spPr>
          <a:xfrm>
            <a:off x="749808" y="4023360"/>
            <a:ext cx="3163824" cy="594360"/>
          </a:xfrm>
          <a:prstGeom prst="rect">
            <a:avLst/>
          </a:prstGeom>
          <a:noFill/>
          <a:ln/>
        </p:spPr>
        <p:txBody>
          <a:bodyPr wrap="square" rtlCol="0" anchor="ctr"/>
          <a:lstStyle/>
          <a:p>
            <a:pPr marL="0" indent="0">
              <a:buNone/>
            </a:pPr>
            <a:r>
              <a:rPr lang="en-US" sz="1600" b="1" dirty="0">
                <a:solidFill>
                  <a:srgbClr val="C8102E"/>
                </a:solidFill>
                <a:latin typeface="Times New Roman" panose="02020603050405020304" pitchFamily="18" charset="0"/>
                <a:ea typeface="Calibri" pitchFamily="34" charset="-122"/>
                <a:cs typeface="Times New Roman" panose="02020603050405020304" pitchFamily="18" charset="0"/>
              </a:rPr>
              <a:t>Grow the Premium Portfolio</a:t>
            </a:r>
            <a:endParaRPr lang="en-US" sz="1600" dirty="0">
              <a:latin typeface="Times New Roman" panose="02020603050405020304" pitchFamily="18" charset="0"/>
              <a:cs typeface="Times New Roman" panose="02020603050405020304" pitchFamily="18" charset="0"/>
            </a:endParaRPr>
          </a:p>
        </p:txBody>
      </p:sp>
      <p:sp>
        <p:nvSpPr>
          <p:cNvPr id="14" name="Text 12"/>
          <p:cNvSpPr/>
          <p:nvPr/>
        </p:nvSpPr>
        <p:spPr>
          <a:xfrm>
            <a:off x="749808" y="4617720"/>
            <a:ext cx="3163824" cy="1234440"/>
          </a:xfrm>
          <a:prstGeom prst="rect">
            <a:avLst/>
          </a:prstGeom>
          <a:noFill/>
          <a:ln/>
        </p:spPr>
        <p:txBody>
          <a:bodyPr wrap="square" rtlCol="0" anchor="ctr"/>
          <a:lstStyle/>
          <a:p>
            <a:pPr marL="0" indent="0">
              <a:lnSpc>
                <a:spcPct val="120000"/>
              </a:lnSpc>
              <a:buNone/>
            </a:pPr>
            <a:r>
              <a:rPr lang="en-US" sz="1600" dirty="0">
                <a:solidFill>
                  <a:srgbClr val="3A3A3A"/>
                </a:solidFill>
                <a:latin typeface="Times New Roman" panose="02020603050405020304" pitchFamily="18" charset="0"/>
                <a:ea typeface="Calibri" pitchFamily="34" charset="-122"/>
                <a:cs typeface="Times New Roman" panose="02020603050405020304" pitchFamily="18" charset="0"/>
              </a:rPr>
              <a:t>Premium buyers already report strong satisfaction — room to add more high-end models.</a:t>
            </a:r>
            <a:endParaRPr lang="en-US" sz="1600" dirty="0">
              <a:latin typeface="Times New Roman" panose="02020603050405020304" pitchFamily="18" charset="0"/>
              <a:cs typeface="Times New Roman" panose="02020603050405020304" pitchFamily="18" charset="0"/>
            </a:endParaRPr>
          </a:p>
        </p:txBody>
      </p:sp>
      <p:sp>
        <p:nvSpPr>
          <p:cNvPr id="15" name="Shape 13"/>
          <p:cNvSpPr/>
          <p:nvPr/>
        </p:nvSpPr>
        <p:spPr>
          <a:xfrm>
            <a:off x="4297680" y="3840480"/>
            <a:ext cx="3566160" cy="2148840"/>
          </a:xfrm>
          <a:prstGeom prst="rect">
            <a:avLst/>
          </a:prstGeom>
          <a:solidFill>
            <a:srgbClr val="FBEAEA"/>
          </a:solidFill>
          <a:ln/>
        </p:spPr>
        <p:txBody>
          <a:bodyPr/>
          <a:lstStyle/>
          <a:p>
            <a:endParaRPr lang="en-IN"/>
          </a:p>
        </p:txBody>
      </p:sp>
      <p:sp>
        <p:nvSpPr>
          <p:cNvPr id="16" name="Text 14"/>
          <p:cNvSpPr/>
          <p:nvPr/>
        </p:nvSpPr>
        <p:spPr>
          <a:xfrm>
            <a:off x="4498848" y="4023360"/>
            <a:ext cx="3163824" cy="594360"/>
          </a:xfrm>
          <a:prstGeom prst="rect">
            <a:avLst/>
          </a:prstGeom>
          <a:noFill/>
          <a:ln/>
        </p:spPr>
        <p:txBody>
          <a:bodyPr wrap="square" rtlCol="0" anchor="ctr"/>
          <a:lstStyle/>
          <a:p>
            <a:pPr marL="0" indent="0">
              <a:buNone/>
            </a:pPr>
            <a:r>
              <a:rPr lang="en-US" sz="1600" b="1" dirty="0">
                <a:solidFill>
                  <a:srgbClr val="C8102E"/>
                </a:solidFill>
                <a:latin typeface="Times New Roman" panose="02020603050405020304" pitchFamily="18" charset="0"/>
                <a:ea typeface="Calibri" pitchFamily="34" charset="-122"/>
                <a:cs typeface="Times New Roman" panose="02020603050405020304" pitchFamily="18" charset="0"/>
              </a:rPr>
              <a:t>Offer Flexible Storage Tiers</a:t>
            </a:r>
            <a:endParaRPr lang="en-US" sz="1600" dirty="0">
              <a:latin typeface="Times New Roman" panose="02020603050405020304" pitchFamily="18" charset="0"/>
              <a:cs typeface="Times New Roman" panose="02020603050405020304" pitchFamily="18" charset="0"/>
            </a:endParaRPr>
          </a:p>
        </p:txBody>
      </p:sp>
      <p:sp>
        <p:nvSpPr>
          <p:cNvPr id="17" name="Text 15"/>
          <p:cNvSpPr/>
          <p:nvPr/>
        </p:nvSpPr>
        <p:spPr>
          <a:xfrm>
            <a:off x="4498848" y="4617720"/>
            <a:ext cx="3163824" cy="1234440"/>
          </a:xfrm>
          <a:prstGeom prst="rect">
            <a:avLst/>
          </a:prstGeom>
          <a:noFill/>
          <a:ln/>
        </p:spPr>
        <p:txBody>
          <a:bodyPr wrap="square" rtlCol="0" anchor="ctr"/>
          <a:lstStyle/>
          <a:p>
            <a:pPr marL="0" indent="0">
              <a:lnSpc>
                <a:spcPct val="120000"/>
              </a:lnSpc>
              <a:buNone/>
            </a:pPr>
            <a:r>
              <a:rPr lang="en-US" sz="1600" dirty="0">
                <a:solidFill>
                  <a:srgbClr val="3A3A3A"/>
                </a:solidFill>
                <a:latin typeface="Times New Roman" panose="02020603050405020304" pitchFamily="18" charset="0"/>
                <a:ea typeface="Calibri" pitchFamily="34" charset="-122"/>
                <a:cs typeface="Times New Roman" panose="02020603050405020304" pitchFamily="18" charset="0"/>
              </a:rPr>
              <a:t>Keep 512 GB SSD standard, but expand 1 TB options for power users.</a:t>
            </a:r>
            <a:endParaRPr lang="en-US" sz="1600" dirty="0">
              <a:latin typeface="Times New Roman" panose="02020603050405020304" pitchFamily="18" charset="0"/>
              <a:cs typeface="Times New Roman" panose="02020603050405020304" pitchFamily="18" charset="0"/>
            </a:endParaRPr>
          </a:p>
        </p:txBody>
      </p:sp>
      <p:sp>
        <p:nvSpPr>
          <p:cNvPr id="18" name="Shape 16"/>
          <p:cNvSpPr/>
          <p:nvPr/>
        </p:nvSpPr>
        <p:spPr>
          <a:xfrm>
            <a:off x="8046720" y="3840480"/>
            <a:ext cx="3566160" cy="2148840"/>
          </a:xfrm>
          <a:prstGeom prst="rect">
            <a:avLst/>
          </a:prstGeom>
          <a:solidFill>
            <a:srgbClr val="FBEAEA"/>
          </a:solidFill>
          <a:ln/>
        </p:spPr>
        <p:txBody>
          <a:bodyPr/>
          <a:lstStyle/>
          <a:p>
            <a:endParaRPr lang="en-IN"/>
          </a:p>
        </p:txBody>
      </p:sp>
      <p:sp>
        <p:nvSpPr>
          <p:cNvPr id="19" name="Text 17"/>
          <p:cNvSpPr/>
          <p:nvPr/>
        </p:nvSpPr>
        <p:spPr>
          <a:xfrm>
            <a:off x="8247888" y="4023360"/>
            <a:ext cx="3163824" cy="594360"/>
          </a:xfrm>
          <a:prstGeom prst="rect">
            <a:avLst/>
          </a:prstGeom>
          <a:noFill/>
          <a:ln/>
        </p:spPr>
        <p:txBody>
          <a:bodyPr wrap="square" rtlCol="0" anchor="ctr"/>
          <a:lstStyle/>
          <a:p>
            <a:pPr marL="0" indent="0">
              <a:buNone/>
            </a:pPr>
            <a:r>
              <a:rPr lang="en-US" sz="1600" b="1" dirty="0">
                <a:solidFill>
                  <a:srgbClr val="C8102E"/>
                </a:solidFill>
                <a:latin typeface="Times New Roman" panose="02020603050405020304" pitchFamily="18" charset="0"/>
                <a:ea typeface="Calibri" pitchFamily="34" charset="-122"/>
                <a:cs typeface="Times New Roman" panose="02020603050405020304" pitchFamily="18" charset="0"/>
              </a:rPr>
              <a:t>Track Competitor Pricing Continuously</a:t>
            </a:r>
            <a:endParaRPr lang="en-US" sz="1600" dirty="0">
              <a:latin typeface="Times New Roman" panose="02020603050405020304" pitchFamily="18" charset="0"/>
              <a:cs typeface="Times New Roman" panose="02020603050405020304" pitchFamily="18" charset="0"/>
            </a:endParaRPr>
          </a:p>
        </p:txBody>
      </p:sp>
      <p:sp>
        <p:nvSpPr>
          <p:cNvPr id="20" name="Text 18"/>
          <p:cNvSpPr/>
          <p:nvPr/>
        </p:nvSpPr>
        <p:spPr>
          <a:xfrm>
            <a:off x="8247888" y="4617720"/>
            <a:ext cx="3163824" cy="1234440"/>
          </a:xfrm>
          <a:prstGeom prst="rect">
            <a:avLst/>
          </a:prstGeom>
          <a:noFill/>
          <a:ln/>
        </p:spPr>
        <p:txBody>
          <a:bodyPr wrap="square" rtlCol="0" anchor="ctr"/>
          <a:lstStyle/>
          <a:p>
            <a:pPr marL="0" indent="0">
              <a:lnSpc>
                <a:spcPct val="120000"/>
              </a:lnSpc>
              <a:buNone/>
            </a:pPr>
            <a:r>
              <a:rPr lang="en-US" sz="1600" dirty="0">
                <a:solidFill>
                  <a:srgbClr val="3A3A3A"/>
                </a:solidFill>
                <a:latin typeface="Times New Roman" panose="02020603050405020304" pitchFamily="18" charset="0"/>
                <a:ea typeface="Calibri" pitchFamily="34" charset="-122"/>
                <a:cs typeface="Times New Roman" panose="02020603050405020304" pitchFamily="18" charset="0"/>
              </a:rPr>
              <a:t>Automate repeat scrapes to monitor price and discount shifts over time.</a:t>
            </a:r>
            <a:endParaRPr lang="en-US" sz="1600" dirty="0">
              <a:latin typeface="Times New Roman" panose="02020603050405020304" pitchFamily="18" charset="0"/>
              <a:cs typeface="Times New Roman" panose="02020603050405020304" pitchFamily="18" charset="0"/>
            </a:endParaRPr>
          </a:p>
        </p:txBody>
      </p:sp>
      <p:sp>
        <p:nvSpPr>
          <p:cNvPr id="22" name="Text 20"/>
          <p:cNvSpPr/>
          <p:nvPr/>
        </p:nvSpPr>
        <p:spPr>
          <a:xfrm>
            <a:off x="11274552" y="6537960"/>
            <a:ext cx="45720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A1A1A"/>
        </a:solidFill>
        <a:effectLst/>
      </p:bgPr>
    </p:bg>
    <p:spTree>
      <p:nvGrpSpPr>
        <p:cNvPr id="1" name=""/>
        <p:cNvGrpSpPr/>
        <p:nvPr/>
      </p:nvGrpSpPr>
      <p:grpSpPr>
        <a:xfrm>
          <a:off x="0" y="0"/>
          <a:ext cx="0" cy="0"/>
          <a:chOff x="0" y="0"/>
          <a:chExt cx="0" cy="0"/>
        </a:xfrm>
      </p:grpSpPr>
      <p:sp>
        <p:nvSpPr>
          <p:cNvPr id="3" name="Text 1"/>
          <p:cNvSpPr/>
          <p:nvPr/>
        </p:nvSpPr>
        <p:spPr>
          <a:xfrm>
            <a:off x="548640" y="502920"/>
            <a:ext cx="9144000" cy="457200"/>
          </a:xfrm>
          <a:prstGeom prst="rect">
            <a:avLst/>
          </a:prstGeom>
          <a:noFill/>
          <a:ln/>
        </p:spPr>
        <p:txBody>
          <a:bodyPr wrap="square" rtlCol="0" anchor="ctr"/>
          <a:lstStyle/>
          <a:p>
            <a:pPr marL="0" indent="0">
              <a:buNone/>
            </a:pPr>
            <a:r>
              <a:rPr lang="en-US" sz="1400" b="1" kern="0" spc="200" dirty="0">
                <a:solidFill>
                  <a:srgbClr val="C8102E"/>
                </a:solidFill>
                <a:latin typeface="Calibri" pitchFamily="34" charset="0"/>
                <a:ea typeface="Calibri" pitchFamily="34" charset="-122"/>
                <a:cs typeface="Calibri" pitchFamily="34" charset="-120"/>
              </a:rPr>
              <a:t>CONCLUSION</a:t>
            </a:r>
            <a:endParaRPr lang="en-US" sz="1400" dirty="0"/>
          </a:p>
        </p:txBody>
      </p:sp>
      <p:sp>
        <p:nvSpPr>
          <p:cNvPr id="4" name="Text 2"/>
          <p:cNvSpPr/>
          <p:nvPr/>
        </p:nvSpPr>
        <p:spPr>
          <a:xfrm>
            <a:off x="548640" y="868680"/>
            <a:ext cx="10515600" cy="640080"/>
          </a:xfrm>
          <a:prstGeom prst="rect">
            <a:avLst/>
          </a:prstGeom>
          <a:noFill/>
          <a:ln/>
        </p:spPr>
        <p:txBody>
          <a:bodyPr wrap="square"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Overall Key Finding</a:t>
            </a:r>
            <a:endParaRPr lang="en-US" sz="3000" dirty="0"/>
          </a:p>
        </p:txBody>
      </p:sp>
      <p:sp>
        <p:nvSpPr>
          <p:cNvPr id="5" name="Text 3"/>
          <p:cNvSpPr/>
          <p:nvPr/>
        </p:nvSpPr>
        <p:spPr>
          <a:xfrm>
            <a:off x="731520" y="1828800"/>
            <a:ext cx="10607040" cy="2103120"/>
          </a:xfrm>
          <a:prstGeom prst="rect">
            <a:avLst/>
          </a:prstGeom>
          <a:noFill/>
          <a:ln/>
        </p:spPr>
        <p:txBody>
          <a:bodyPr wrap="square" rtlCol="0" anchor="ctr"/>
          <a:lstStyle/>
          <a:p>
            <a:pPr marL="0" indent="0" algn="l">
              <a:lnSpc>
                <a:spcPct val="140000"/>
              </a:lnSpc>
              <a:buNone/>
            </a:pPr>
            <a:r>
              <a:rPr lang="en-US" sz="1800" i="1" dirty="0">
                <a:solidFill>
                  <a:srgbClr val="E8E8E8"/>
                </a:solidFill>
                <a:latin typeface="Cambria" pitchFamily="34" charset="0"/>
                <a:ea typeface="Cambria" pitchFamily="34" charset="-122"/>
                <a:cs typeface="Cambria" pitchFamily="34" charset="-120"/>
              </a:rPr>
              <a:t>The online laptop market is largely concentrated around mid-to-premium configurations — 16 GB RAM, 512 GB SSD and Intel/AMD mainstream processors — with ASUS as the dominant brand across both volume and price leadership. Price, discount and rating operate almost independently of each other, meaning customer satisfaction is driven far more by product quality and experience than by price point or promotional depth.</a:t>
            </a:r>
            <a:endParaRPr lang="en-US" sz="1800" dirty="0"/>
          </a:p>
        </p:txBody>
      </p:sp>
      <p:sp>
        <p:nvSpPr>
          <p:cNvPr id="6" name="Shape 4"/>
          <p:cNvSpPr/>
          <p:nvPr/>
        </p:nvSpPr>
        <p:spPr>
          <a:xfrm>
            <a:off x="731520" y="4480560"/>
            <a:ext cx="2231136" cy="502920"/>
          </a:xfrm>
          <a:prstGeom prst="rect">
            <a:avLst/>
          </a:prstGeom>
          <a:solidFill>
            <a:srgbClr val="3A3A3A"/>
          </a:solidFill>
          <a:ln/>
        </p:spPr>
        <p:txBody>
          <a:bodyPr/>
          <a:lstStyle/>
          <a:p>
            <a:endParaRPr lang="en-IN"/>
          </a:p>
        </p:txBody>
      </p:sp>
      <p:sp>
        <p:nvSpPr>
          <p:cNvPr id="7" name="Text 5"/>
          <p:cNvSpPr/>
          <p:nvPr/>
        </p:nvSpPr>
        <p:spPr>
          <a:xfrm>
            <a:off x="731520" y="4480560"/>
            <a:ext cx="2231136" cy="502920"/>
          </a:xfrm>
          <a:prstGeom prst="rect">
            <a:avLst/>
          </a:prstGeom>
          <a:noFill/>
          <a:ln/>
        </p:spPr>
        <p:txBody>
          <a:bodyPr wrap="square"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2141 listings analyzed</a:t>
            </a:r>
            <a:endParaRPr lang="en-US" sz="1600" dirty="0"/>
          </a:p>
        </p:txBody>
      </p:sp>
      <p:sp>
        <p:nvSpPr>
          <p:cNvPr id="8" name="Shape 6"/>
          <p:cNvSpPr/>
          <p:nvPr/>
        </p:nvSpPr>
        <p:spPr>
          <a:xfrm>
            <a:off x="3191256" y="4480560"/>
            <a:ext cx="2839212" cy="502920"/>
          </a:xfrm>
          <a:prstGeom prst="rect">
            <a:avLst/>
          </a:prstGeom>
          <a:solidFill>
            <a:srgbClr val="3A3A3A"/>
          </a:solidFill>
          <a:ln/>
        </p:spPr>
        <p:txBody>
          <a:bodyPr/>
          <a:lstStyle/>
          <a:p>
            <a:endParaRPr lang="en-IN"/>
          </a:p>
        </p:txBody>
      </p:sp>
      <p:sp>
        <p:nvSpPr>
          <p:cNvPr id="9" name="Text 7"/>
          <p:cNvSpPr/>
          <p:nvPr/>
        </p:nvSpPr>
        <p:spPr>
          <a:xfrm>
            <a:off x="3191256" y="4480560"/>
            <a:ext cx="2839212" cy="502920"/>
          </a:xfrm>
          <a:prstGeom prst="rect">
            <a:avLst/>
          </a:prstGeom>
          <a:noFill/>
          <a:ln/>
        </p:spPr>
        <p:txBody>
          <a:bodyPr wrap="square"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ASUS: market &amp; premium leader</a:t>
            </a:r>
            <a:endParaRPr lang="en-US" sz="1600" dirty="0"/>
          </a:p>
        </p:txBody>
      </p:sp>
      <p:sp>
        <p:nvSpPr>
          <p:cNvPr id="10" name="Shape 8"/>
          <p:cNvSpPr/>
          <p:nvPr/>
        </p:nvSpPr>
        <p:spPr>
          <a:xfrm>
            <a:off x="6259068" y="4480560"/>
            <a:ext cx="3186684" cy="502920"/>
          </a:xfrm>
          <a:prstGeom prst="rect">
            <a:avLst/>
          </a:prstGeom>
          <a:solidFill>
            <a:srgbClr val="3A3A3A"/>
          </a:solidFill>
          <a:ln/>
        </p:spPr>
        <p:txBody>
          <a:bodyPr/>
          <a:lstStyle/>
          <a:p>
            <a:endParaRPr lang="en-IN"/>
          </a:p>
        </p:txBody>
      </p:sp>
      <p:sp>
        <p:nvSpPr>
          <p:cNvPr id="11" name="Text 9"/>
          <p:cNvSpPr/>
          <p:nvPr/>
        </p:nvSpPr>
        <p:spPr>
          <a:xfrm>
            <a:off x="6259068" y="4480560"/>
            <a:ext cx="3186684" cy="502920"/>
          </a:xfrm>
          <a:prstGeom prst="rect">
            <a:avLst/>
          </a:prstGeom>
          <a:noFill/>
          <a:ln/>
        </p:spPr>
        <p:txBody>
          <a:bodyPr wrap="square"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16GB / 512GB: mainstream standard</a:t>
            </a:r>
            <a:endParaRPr lang="en-US" sz="1600" dirty="0"/>
          </a:p>
        </p:txBody>
      </p:sp>
      <p:sp>
        <p:nvSpPr>
          <p:cNvPr id="12" name="Shape 10"/>
          <p:cNvSpPr/>
          <p:nvPr/>
        </p:nvSpPr>
        <p:spPr>
          <a:xfrm>
            <a:off x="9649968" y="4457700"/>
            <a:ext cx="2269130" cy="502920"/>
          </a:xfrm>
          <a:prstGeom prst="rect">
            <a:avLst/>
          </a:prstGeom>
          <a:solidFill>
            <a:srgbClr val="3A3A3A"/>
          </a:solidFill>
          <a:ln/>
        </p:spPr>
        <p:txBody>
          <a:bodyPr/>
          <a:lstStyle/>
          <a:p>
            <a:endParaRPr lang="en-IN"/>
          </a:p>
        </p:txBody>
      </p:sp>
      <p:sp>
        <p:nvSpPr>
          <p:cNvPr id="13" name="Text 11"/>
          <p:cNvSpPr/>
          <p:nvPr/>
        </p:nvSpPr>
        <p:spPr>
          <a:xfrm>
            <a:off x="9674352" y="4480560"/>
            <a:ext cx="2244746" cy="502920"/>
          </a:xfrm>
          <a:prstGeom prst="rect">
            <a:avLst/>
          </a:prstGeom>
          <a:noFill/>
          <a:ln/>
        </p:spPr>
        <p:txBody>
          <a:bodyPr wrap="square" rtlCol="0" anchor="ctr"/>
          <a:lstStyle/>
          <a:p>
            <a:pPr marL="0" indent="0" algn="ctr">
              <a:buNone/>
            </a:pPr>
            <a:r>
              <a:rPr lang="en-US" sz="1600" dirty="0">
                <a:solidFill>
                  <a:srgbClr val="FFFFFF"/>
                </a:solidFill>
                <a:latin typeface="Calibri" pitchFamily="34" charset="0"/>
                <a:ea typeface="Calibri" pitchFamily="34" charset="-122"/>
                <a:cs typeface="Calibri" pitchFamily="34" charset="-120"/>
              </a:rPr>
              <a:t>Weak price–discount–rating correlation</a:t>
            </a:r>
            <a:endParaRPr lang="en-US" sz="1600" dirty="0"/>
          </a:p>
        </p:txBody>
      </p:sp>
      <p:sp>
        <p:nvSpPr>
          <p:cNvPr id="15" name="Text 13"/>
          <p:cNvSpPr/>
          <p:nvPr/>
        </p:nvSpPr>
        <p:spPr>
          <a:xfrm>
            <a:off x="11274552" y="6537960"/>
            <a:ext cx="45720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20040"/>
            <a:ext cx="9144000" cy="320040"/>
          </a:xfrm>
          <a:prstGeom prst="rect">
            <a:avLst/>
          </a:prstGeom>
          <a:noFill/>
          <a:ln/>
        </p:spPr>
        <p:txBody>
          <a:bodyPr wrap="square" rtlCol="0" anchor="ctr"/>
          <a:lstStyle/>
          <a:p>
            <a:pPr marL="0" indent="0">
              <a:buNone/>
            </a:pPr>
            <a:r>
              <a:rPr lang="en-US" sz="1300" b="1" kern="0" spc="200" dirty="0">
                <a:solidFill>
                  <a:srgbClr val="C8102E"/>
                </a:solidFill>
                <a:latin typeface="Calibri" pitchFamily="34" charset="0"/>
                <a:ea typeface="Calibri" pitchFamily="34" charset="-122"/>
                <a:cs typeface="Calibri" pitchFamily="34" charset="-120"/>
              </a:rPr>
              <a:t>WORKING THROUGH THE PROJECT</a:t>
            </a:r>
            <a:endParaRPr lang="en-US" sz="1300" dirty="0"/>
          </a:p>
        </p:txBody>
      </p:sp>
      <p:sp>
        <p:nvSpPr>
          <p:cNvPr id="3" name="Text 1"/>
          <p:cNvSpPr/>
          <p:nvPr/>
        </p:nvSpPr>
        <p:spPr>
          <a:xfrm>
            <a:off x="548640" y="621792"/>
            <a:ext cx="10515600" cy="731520"/>
          </a:xfrm>
          <a:prstGeom prst="rect">
            <a:avLst/>
          </a:prstGeom>
          <a:noFill/>
          <a:ln/>
        </p:spPr>
        <p:txBody>
          <a:bodyPr wrap="square" rtlCol="0" anchor="ctr"/>
          <a:lstStyle/>
          <a:p>
            <a:pPr marL="0" indent="0">
              <a:buNone/>
            </a:pPr>
            <a:r>
              <a:rPr lang="en-US" sz="3000" b="1" dirty="0">
                <a:solidFill>
                  <a:srgbClr val="1A1A1A"/>
                </a:solidFill>
                <a:latin typeface="Cambria" pitchFamily="34" charset="0"/>
                <a:ea typeface="Cambria" pitchFamily="34" charset="-122"/>
                <a:cs typeface="Cambria" pitchFamily="34" charset="-120"/>
              </a:rPr>
              <a:t>Challenges &amp; Experience</a:t>
            </a:r>
            <a:endParaRPr lang="en-US" sz="3000" dirty="0"/>
          </a:p>
        </p:txBody>
      </p:sp>
      <p:sp>
        <p:nvSpPr>
          <p:cNvPr id="4" name="Shape 2"/>
          <p:cNvSpPr/>
          <p:nvPr/>
        </p:nvSpPr>
        <p:spPr>
          <a:xfrm>
            <a:off x="548640" y="1463040"/>
            <a:ext cx="3566160" cy="2148840"/>
          </a:xfrm>
          <a:prstGeom prst="rect">
            <a:avLst/>
          </a:prstGeom>
          <a:solidFill>
            <a:srgbClr val="F2F2F2"/>
          </a:solidFill>
          <a:ln/>
        </p:spPr>
        <p:txBody>
          <a:bodyPr/>
          <a:lstStyle/>
          <a:p>
            <a:endParaRPr lang="en-IN"/>
          </a:p>
        </p:txBody>
      </p:sp>
      <p:sp>
        <p:nvSpPr>
          <p:cNvPr id="5" name="Shape 3"/>
          <p:cNvSpPr/>
          <p:nvPr/>
        </p:nvSpPr>
        <p:spPr>
          <a:xfrm>
            <a:off x="548640" y="1463040"/>
            <a:ext cx="3566160" cy="73152"/>
          </a:xfrm>
          <a:prstGeom prst="rect">
            <a:avLst/>
          </a:prstGeom>
          <a:solidFill>
            <a:srgbClr val="1A1A1A"/>
          </a:solidFill>
          <a:ln/>
        </p:spPr>
        <p:txBody>
          <a:bodyPr/>
          <a:lstStyle/>
          <a:p>
            <a:endParaRPr lang="en-IN"/>
          </a:p>
        </p:txBody>
      </p:sp>
      <p:sp>
        <p:nvSpPr>
          <p:cNvPr id="6" name="Text 4"/>
          <p:cNvSpPr/>
          <p:nvPr/>
        </p:nvSpPr>
        <p:spPr>
          <a:xfrm>
            <a:off x="731520" y="1664208"/>
            <a:ext cx="3200400" cy="548640"/>
          </a:xfrm>
          <a:prstGeom prst="rect">
            <a:avLst/>
          </a:prstGeom>
          <a:noFill/>
          <a:ln/>
        </p:spPr>
        <p:txBody>
          <a:bodyPr wrap="square" rtlCol="0" anchor="ctr"/>
          <a:lstStyle/>
          <a:p>
            <a:pPr marL="0" indent="0">
              <a:buNone/>
            </a:pPr>
            <a:r>
              <a:rPr lang="en-US" sz="1600" b="1" dirty="0">
                <a:solidFill>
                  <a:srgbClr val="1A1A1A"/>
                </a:solidFill>
                <a:latin typeface="Times New Roman" panose="02020603050405020304" pitchFamily="18" charset="0"/>
                <a:ea typeface="Calibri" pitchFamily="34" charset="-122"/>
                <a:cs typeface="Times New Roman" panose="02020603050405020304" pitchFamily="18" charset="0"/>
              </a:rPr>
              <a:t>Dynamic &amp; inconsistent HTML</a:t>
            </a:r>
            <a:endParaRPr lang="en-US" sz="1600" dirty="0">
              <a:latin typeface="Times New Roman" panose="02020603050405020304" pitchFamily="18" charset="0"/>
              <a:cs typeface="Times New Roman" panose="02020603050405020304" pitchFamily="18" charset="0"/>
            </a:endParaRPr>
          </a:p>
        </p:txBody>
      </p:sp>
      <p:sp>
        <p:nvSpPr>
          <p:cNvPr id="7" name="Text 5"/>
          <p:cNvSpPr/>
          <p:nvPr/>
        </p:nvSpPr>
        <p:spPr>
          <a:xfrm>
            <a:off x="731520" y="2240280"/>
            <a:ext cx="3200400" cy="1280160"/>
          </a:xfrm>
          <a:prstGeom prst="rect">
            <a:avLst/>
          </a:prstGeom>
          <a:noFill/>
          <a:ln/>
        </p:spPr>
        <p:txBody>
          <a:bodyPr wrap="square" rtlCol="0" anchor="ctr"/>
          <a:lstStyle/>
          <a:p>
            <a:pPr marL="0" indent="0">
              <a:lnSpc>
                <a:spcPct val="120000"/>
              </a:lnSpc>
              <a:buNone/>
            </a:pPr>
            <a:r>
              <a:rPr lang="en-US" sz="1600" dirty="0">
                <a:solidFill>
                  <a:srgbClr val="3A3A3A"/>
                </a:solidFill>
                <a:latin typeface="Times New Roman" panose="02020603050405020304" pitchFamily="18" charset="0"/>
                <a:ea typeface="Calibri" pitchFamily="34" charset="-122"/>
                <a:cs typeface="Times New Roman" panose="02020603050405020304" pitchFamily="18" charset="0"/>
              </a:rPr>
              <a:t>Flipkart's listing tags varied across pages, requiring careful, resilient BeautifulSoup selectors.</a:t>
            </a:r>
            <a:endParaRPr lang="en-US" sz="1600" dirty="0">
              <a:latin typeface="Times New Roman" panose="02020603050405020304" pitchFamily="18" charset="0"/>
              <a:cs typeface="Times New Roman" panose="02020603050405020304" pitchFamily="18" charset="0"/>
            </a:endParaRPr>
          </a:p>
        </p:txBody>
      </p:sp>
      <p:sp>
        <p:nvSpPr>
          <p:cNvPr id="8" name="Shape 6"/>
          <p:cNvSpPr/>
          <p:nvPr/>
        </p:nvSpPr>
        <p:spPr>
          <a:xfrm>
            <a:off x="4297680" y="1463040"/>
            <a:ext cx="3566160" cy="2148840"/>
          </a:xfrm>
          <a:prstGeom prst="rect">
            <a:avLst/>
          </a:prstGeom>
          <a:solidFill>
            <a:srgbClr val="F2F2F2"/>
          </a:solidFill>
          <a:ln/>
        </p:spPr>
        <p:txBody>
          <a:bodyPr/>
          <a:lstStyle/>
          <a:p>
            <a:endParaRPr lang="en-IN"/>
          </a:p>
        </p:txBody>
      </p:sp>
      <p:sp>
        <p:nvSpPr>
          <p:cNvPr id="9" name="Shape 7"/>
          <p:cNvSpPr/>
          <p:nvPr/>
        </p:nvSpPr>
        <p:spPr>
          <a:xfrm>
            <a:off x="4297680" y="1463040"/>
            <a:ext cx="3566160" cy="73152"/>
          </a:xfrm>
          <a:prstGeom prst="rect">
            <a:avLst/>
          </a:prstGeom>
          <a:solidFill>
            <a:srgbClr val="1A1A1A"/>
          </a:solidFill>
          <a:ln/>
        </p:spPr>
        <p:txBody>
          <a:bodyPr/>
          <a:lstStyle/>
          <a:p>
            <a:endParaRPr lang="en-IN"/>
          </a:p>
        </p:txBody>
      </p:sp>
      <p:sp>
        <p:nvSpPr>
          <p:cNvPr id="10" name="Text 8"/>
          <p:cNvSpPr/>
          <p:nvPr/>
        </p:nvSpPr>
        <p:spPr>
          <a:xfrm>
            <a:off x="4480560" y="1664208"/>
            <a:ext cx="3200400" cy="548640"/>
          </a:xfrm>
          <a:prstGeom prst="rect">
            <a:avLst/>
          </a:prstGeom>
          <a:noFill/>
          <a:ln/>
        </p:spPr>
        <p:txBody>
          <a:bodyPr wrap="square" rtlCol="0" anchor="ctr"/>
          <a:lstStyle/>
          <a:p>
            <a:pPr marL="0" indent="0">
              <a:buNone/>
            </a:pPr>
            <a:r>
              <a:rPr lang="en-US" sz="1600" b="1" dirty="0">
                <a:solidFill>
                  <a:srgbClr val="1A1A1A"/>
                </a:solidFill>
                <a:latin typeface="Calibri" pitchFamily="34" charset="0"/>
                <a:ea typeface="Calibri" pitchFamily="34" charset="-122"/>
                <a:cs typeface="Calibri" pitchFamily="34" charset="-120"/>
              </a:rPr>
              <a:t>Uneven field counts per page</a:t>
            </a:r>
            <a:endParaRPr lang="en-US" sz="1600" dirty="0"/>
          </a:p>
        </p:txBody>
      </p:sp>
      <p:sp>
        <p:nvSpPr>
          <p:cNvPr id="11" name="Text 9"/>
          <p:cNvSpPr/>
          <p:nvPr/>
        </p:nvSpPr>
        <p:spPr>
          <a:xfrm>
            <a:off x="4480560" y="2240280"/>
            <a:ext cx="3200400" cy="1280160"/>
          </a:xfrm>
          <a:prstGeom prst="rect">
            <a:avLst/>
          </a:prstGeom>
          <a:noFill/>
          <a:ln/>
        </p:spPr>
        <p:txBody>
          <a:bodyPr wrap="square" rtlCol="0" anchor="ctr"/>
          <a:lstStyle/>
          <a:p>
            <a:pPr marL="0" indent="0" algn="just">
              <a:lnSpc>
                <a:spcPct val="120000"/>
              </a:lnSpc>
              <a:buNone/>
            </a:pPr>
            <a:r>
              <a:rPr lang="en-US" sz="1600" dirty="0">
                <a:solidFill>
                  <a:srgbClr val="3A3A3A"/>
                </a:solidFill>
                <a:latin typeface="Calibri" pitchFamily="34" charset="0"/>
                <a:ea typeface="Calibri" pitchFamily="34" charset="-122"/>
                <a:cs typeface="Calibri" pitchFamily="34" charset="-120"/>
              </a:rPr>
              <a:t>Some listings were missing specs, so array lengths had to be checked and aligned before building the DataFrame.</a:t>
            </a:r>
            <a:endParaRPr lang="en-US" sz="1600" dirty="0"/>
          </a:p>
        </p:txBody>
      </p:sp>
      <p:sp>
        <p:nvSpPr>
          <p:cNvPr id="12" name="Shape 10"/>
          <p:cNvSpPr/>
          <p:nvPr/>
        </p:nvSpPr>
        <p:spPr>
          <a:xfrm>
            <a:off x="8046720" y="1463040"/>
            <a:ext cx="3566160" cy="2148840"/>
          </a:xfrm>
          <a:prstGeom prst="rect">
            <a:avLst/>
          </a:prstGeom>
          <a:solidFill>
            <a:srgbClr val="F2F2F2"/>
          </a:solidFill>
          <a:ln/>
        </p:spPr>
        <p:txBody>
          <a:bodyPr/>
          <a:lstStyle/>
          <a:p>
            <a:endParaRPr lang="en-IN"/>
          </a:p>
        </p:txBody>
      </p:sp>
      <p:sp>
        <p:nvSpPr>
          <p:cNvPr id="13" name="Shape 11"/>
          <p:cNvSpPr/>
          <p:nvPr/>
        </p:nvSpPr>
        <p:spPr>
          <a:xfrm>
            <a:off x="8046720" y="1463040"/>
            <a:ext cx="3566160" cy="73152"/>
          </a:xfrm>
          <a:prstGeom prst="rect">
            <a:avLst/>
          </a:prstGeom>
          <a:solidFill>
            <a:srgbClr val="1A1A1A"/>
          </a:solidFill>
          <a:ln/>
        </p:spPr>
        <p:txBody>
          <a:bodyPr/>
          <a:lstStyle/>
          <a:p>
            <a:endParaRPr lang="en-IN"/>
          </a:p>
        </p:txBody>
      </p:sp>
      <p:sp>
        <p:nvSpPr>
          <p:cNvPr id="14" name="Text 12"/>
          <p:cNvSpPr/>
          <p:nvPr/>
        </p:nvSpPr>
        <p:spPr>
          <a:xfrm>
            <a:off x="8229600" y="1664208"/>
            <a:ext cx="3200400" cy="548640"/>
          </a:xfrm>
          <a:prstGeom prst="rect">
            <a:avLst/>
          </a:prstGeom>
          <a:noFill/>
          <a:ln/>
        </p:spPr>
        <p:txBody>
          <a:bodyPr wrap="square" rtlCol="0" anchor="ctr"/>
          <a:lstStyle/>
          <a:p>
            <a:pPr marL="0" indent="0">
              <a:buNone/>
            </a:pPr>
            <a:r>
              <a:rPr lang="en-US" sz="1600" b="1" dirty="0">
                <a:solidFill>
                  <a:srgbClr val="1A1A1A"/>
                </a:solidFill>
                <a:latin typeface="Times New Roman" panose="02020603050405020304" pitchFamily="18" charset="0"/>
                <a:ea typeface="Calibri" pitchFamily="34" charset="-122"/>
                <a:cs typeface="Times New Roman" panose="02020603050405020304" pitchFamily="18" charset="0"/>
              </a:rPr>
              <a:t>Messy text fields</a:t>
            </a:r>
            <a:endParaRPr lang="en-US" sz="1600" dirty="0">
              <a:latin typeface="Times New Roman" panose="02020603050405020304" pitchFamily="18" charset="0"/>
              <a:cs typeface="Times New Roman" panose="02020603050405020304" pitchFamily="18" charset="0"/>
            </a:endParaRPr>
          </a:p>
        </p:txBody>
      </p:sp>
      <p:sp>
        <p:nvSpPr>
          <p:cNvPr id="15" name="Text 13"/>
          <p:cNvSpPr/>
          <p:nvPr/>
        </p:nvSpPr>
        <p:spPr>
          <a:xfrm>
            <a:off x="8229600" y="2240280"/>
            <a:ext cx="3200400" cy="1280160"/>
          </a:xfrm>
          <a:prstGeom prst="rect">
            <a:avLst/>
          </a:prstGeom>
          <a:noFill/>
          <a:ln/>
        </p:spPr>
        <p:txBody>
          <a:bodyPr wrap="square" rtlCol="0" anchor="ctr"/>
          <a:lstStyle/>
          <a:p>
            <a:pPr marL="0" indent="0">
              <a:lnSpc>
                <a:spcPct val="120000"/>
              </a:lnSpc>
              <a:buNone/>
            </a:pPr>
            <a:r>
              <a:rPr lang="en-US" sz="1600" dirty="0">
                <a:solidFill>
                  <a:srgbClr val="3A3A3A"/>
                </a:solidFill>
                <a:latin typeface="Calibri" pitchFamily="34" charset="0"/>
                <a:ea typeface="Calibri" pitchFamily="34" charset="-122"/>
                <a:cs typeface="Calibri" pitchFamily="34" charset="-120"/>
              </a:rPr>
              <a:t>Price, RAM, Display and Discount all arrived as free text (₹, commas, units) needing regex-based extraction.</a:t>
            </a:r>
            <a:endParaRPr lang="en-US" sz="1600" dirty="0"/>
          </a:p>
        </p:txBody>
      </p:sp>
      <p:sp>
        <p:nvSpPr>
          <p:cNvPr id="16" name="Shape 14"/>
          <p:cNvSpPr/>
          <p:nvPr/>
        </p:nvSpPr>
        <p:spPr>
          <a:xfrm>
            <a:off x="548640" y="3840480"/>
            <a:ext cx="3566160" cy="2148840"/>
          </a:xfrm>
          <a:prstGeom prst="rect">
            <a:avLst/>
          </a:prstGeom>
          <a:solidFill>
            <a:srgbClr val="F2F2F2"/>
          </a:solidFill>
          <a:ln/>
        </p:spPr>
        <p:txBody>
          <a:bodyPr/>
          <a:lstStyle/>
          <a:p>
            <a:endParaRPr lang="en-IN"/>
          </a:p>
        </p:txBody>
      </p:sp>
      <p:sp>
        <p:nvSpPr>
          <p:cNvPr id="17" name="Shape 15"/>
          <p:cNvSpPr/>
          <p:nvPr/>
        </p:nvSpPr>
        <p:spPr>
          <a:xfrm>
            <a:off x="548640" y="3840480"/>
            <a:ext cx="3566160" cy="73152"/>
          </a:xfrm>
          <a:prstGeom prst="rect">
            <a:avLst/>
          </a:prstGeom>
          <a:solidFill>
            <a:srgbClr val="1A1A1A"/>
          </a:solidFill>
          <a:ln/>
        </p:spPr>
        <p:txBody>
          <a:bodyPr/>
          <a:lstStyle/>
          <a:p>
            <a:endParaRPr lang="en-IN"/>
          </a:p>
        </p:txBody>
      </p:sp>
      <p:sp>
        <p:nvSpPr>
          <p:cNvPr id="18" name="Text 16"/>
          <p:cNvSpPr/>
          <p:nvPr/>
        </p:nvSpPr>
        <p:spPr>
          <a:xfrm>
            <a:off x="731520" y="4041648"/>
            <a:ext cx="3200400" cy="548640"/>
          </a:xfrm>
          <a:prstGeom prst="rect">
            <a:avLst/>
          </a:prstGeom>
          <a:noFill/>
          <a:ln/>
        </p:spPr>
        <p:txBody>
          <a:bodyPr wrap="square" rtlCol="0" anchor="ctr"/>
          <a:lstStyle/>
          <a:p>
            <a:pPr marL="0" indent="0">
              <a:buNone/>
            </a:pPr>
            <a:r>
              <a:rPr lang="en-US" b="1" dirty="0">
                <a:solidFill>
                  <a:srgbClr val="1A1A1A"/>
                </a:solidFill>
                <a:latin typeface="Times New Roman" panose="02020603050405020304" pitchFamily="18" charset="0"/>
                <a:ea typeface="Calibri" pitchFamily="34" charset="-122"/>
                <a:cs typeface="Times New Roman" panose="02020603050405020304" pitchFamily="18" charset="0"/>
              </a:rPr>
              <a:t>Pagination at scale</a:t>
            </a:r>
            <a:endParaRPr lang="en-US" dirty="0">
              <a:latin typeface="Times New Roman" panose="02020603050405020304" pitchFamily="18" charset="0"/>
              <a:cs typeface="Times New Roman" panose="02020603050405020304" pitchFamily="18" charset="0"/>
            </a:endParaRPr>
          </a:p>
        </p:txBody>
      </p:sp>
      <p:sp>
        <p:nvSpPr>
          <p:cNvPr id="19" name="Text 17"/>
          <p:cNvSpPr/>
          <p:nvPr/>
        </p:nvSpPr>
        <p:spPr>
          <a:xfrm>
            <a:off x="731520" y="4617720"/>
            <a:ext cx="3200400" cy="1280160"/>
          </a:xfrm>
          <a:prstGeom prst="rect">
            <a:avLst/>
          </a:prstGeom>
          <a:noFill/>
          <a:ln/>
        </p:spPr>
        <p:txBody>
          <a:bodyPr wrap="square" rtlCol="0" anchor="ctr"/>
          <a:lstStyle/>
          <a:p>
            <a:pPr marL="0" indent="0">
              <a:lnSpc>
                <a:spcPct val="120000"/>
              </a:lnSpc>
              <a:buNone/>
            </a:pPr>
            <a:r>
              <a:rPr lang="en-US" sz="1600" dirty="0">
                <a:solidFill>
                  <a:srgbClr val="3A3A3A"/>
                </a:solidFill>
                <a:latin typeface="Calibri" pitchFamily="34" charset="0"/>
                <a:ea typeface="Calibri" pitchFamily="34" charset="-122"/>
                <a:cs typeface="Calibri" pitchFamily="34" charset="-120"/>
              </a:rPr>
              <a:t>Looping across ~95 pages while respecting request headers and avoiding blocked/empty responses.</a:t>
            </a:r>
            <a:endParaRPr lang="en-US" sz="1600" dirty="0"/>
          </a:p>
        </p:txBody>
      </p:sp>
      <p:sp>
        <p:nvSpPr>
          <p:cNvPr id="20" name="Shape 18"/>
          <p:cNvSpPr/>
          <p:nvPr/>
        </p:nvSpPr>
        <p:spPr>
          <a:xfrm>
            <a:off x="4297680" y="3840480"/>
            <a:ext cx="3566160" cy="2148840"/>
          </a:xfrm>
          <a:prstGeom prst="rect">
            <a:avLst/>
          </a:prstGeom>
          <a:solidFill>
            <a:srgbClr val="F2F2F2"/>
          </a:solidFill>
          <a:ln/>
        </p:spPr>
        <p:txBody>
          <a:bodyPr/>
          <a:lstStyle/>
          <a:p>
            <a:endParaRPr lang="en-IN"/>
          </a:p>
        </p:txBody>
      </p:sp>
      <p:sp>
        <p:nvSpPr>
          <p:cNvPr id="21" name="Shape 19"/>
          <p:cNvSpPr/>
          <p:nvPr/>
        </p:nvSpPr>
        <p:spPr>
          <a:xfrm>
            <a:off x="4297680" y="3840480"/>
            <a:ext cx="3566160" cy="73152"/>
          </a:xfrm>
          <a:prstGeom prst="rect">
            <a:avLst/>
          </a:prstGeom>
          <a:solidFill>
            <a:srgbClr val="1A1A1A"/>
          </a:solidFill>
          <a:ln/>
        </p:spPr>
        <p:txBody>
          <a:bodyPr/>
          <a:lstStyle/>
          <a:p>
            <a:endParaRPr lang="en-IN"/>
          </a:p>
        </p:txBody>
      </p:sp>
      <p:sp>
        <p:nvSpPr>
          <p:cNvPr id="22" name="Text 20"/>
          <p:cNvSpPr/>
          <p:nvPr/>
        </p:nvSpPr>
        <p:spPr>
          <a:xfrm>
            <a:off x="4480560" y="4041648"/>
            <a:ext cx="3200400" cy="548640"/>
          </a:xfrm>
          <a:prstGeom prst="rect">
            <a:avLst/>
          </a:prstGeom>
          <a:noFill/>
          <a:ln/>
        </p:spPr>
        <p:txBody>
          <a:bodyPr wrap="square" rtlCol="0" anchor="ctr"/>
          <a:lstStyle/>
          <a:p>
            <a:pPr marL="0" indent="0">
              <a:buNone/>
            </a:pPr>
            <a:r>
              <a:rPr lang="en-US" b="1" dirty="0">
                <a:solidFill>
                  <a:srgbClr val="1A1A1A"/>
                </a:solidFill>
                <a:latin typeface="Times New Roman" panose="02020603050405020304" pitchFamily="18" charset="0"/>
                <a:ea typeface="Calibri" pitchFamily="34" charset="-122"/>
                <a:cs typeface="Times New Roman" panose="02020603050405020304" pitchFamily="18" charset="0"/>
              </a:rPr>
              <a:t>Duplicate listings</a:t>
            </a:r>
            <a:endParaRPr lang="en-US" dirty="0">
              <a:latin typeface="Times New Roman" panose="02020603050405020304" pitchFamily="18" charset="0"/>
              <a:cs typeface="Times New Roman" panose="02020603050405020304" pitchFamily="18" charset="0"/>
            </a:endParaRPr>
          </a:p>
        </p:txBody>
      </p:sp>
      <p:sp>
        <p:nvSpPr>
          <p:cNvPr id="23" name="Text 21"/>
          <p:cNvSpPr/>
          <p:nvPr/>
        </p:nvSpPr>
        <p:spPr>
          <a:xfrm>
            <a:off x="4480560" y="4617720"/>
            <a:ext cx="3200400" cy="1280160"/>
          </a:xfrm>
          <a:prstGeom prst="rect">
            <a:avLst/>
          </a:prstGeom>
          <a:noFill/>
          <a:ln/>
        </p:spPr>
        <p:txBody>
          <a:bodyPr wrap="square" rtlCol="0" anchor="ctr"/>
          <a:lstStyle/>
          <a:p>
            <a:pPr marL="0" indent="0">
              <a:lnSpc>
                <a:spcPct val="120000"/>
              </a:lnSpc>
              <a:buNone/>
            </a:pPr>
            <a:r>
              <a:rPr lang="en-US" sz="1600" dirty="0">
                <a:solidFill>
                  <a:srgbClr val="3A3A3A"/>
                </a:solidFill>
                <a:latin typeface="Times New Roman" panose="02020603050405020304" pitchFamily="18" charset="0"/>
                <a:ea typeface="Calibri" pitchFamily="34" charset="-122"/>
                <a:cs typeface="Times New Roman" panose="02020603050405020304" pitchFamily="18" charset="0"/>
              </a:rPr>
              <a:t>The same product often reappeared across search pages and had to be de-duplicated post-scrape.</a:t>
            </a:r>
            <a:endParaRPr lang="en-US" sz="1600" dirty="0">
              <a:latin typeface="Times New Roman" panose="02020603050405020304" pitchFamily="18" charset="0"/>
              <a:cs typeface="Times New Roman" panose="02020603050405020304" pitchFamily="18" charset="0"/>
            </a:endParaRPr>
          </a:p>
        </p:txBody>
      </p:sp>
      <p:sp>
        <p:nvSpPr>
          <p:cNvPr id="24" name="Shape 22"/>
          <p:cNvSpPr/>
          <p:nvPr/>
        </p:nvSpPr>
        <p:spPr>
          <a:xfrm>
            <a:off x="8046720" y="3840480"/>
            <a:ext cx="3566160" cy="2148840"/>
          </a:xfrm>
          <a:prstGeom prst="rect">
            <a:avLst/>
          </a:prstGeom>
          <a:solidFill>
            <a:srgbClr val="F2F2F2"/>
          </a:solidFill>
          <a:ln/>
        </p:spPr>
        <p:txBody>
          <a:bodyPr/>
          <a:lstStyle/>
          <a:p>
            <a:endParaRPr lang="en-IN"/>
          </a:p>
        </p:txBody>
      </p:sp>
      <p:sp>
        <p:nvSpPr>
          <p:cNvPr id="25" name="Shape 23"/>
          <p:cNvSpPr/>
          <p:nvPr/>
        </p:nvSpPr>
        <p:spPr>
          <a:xfrm>
            <a:off x="8046720" y="3840480"/>
            <a:ext cx="3566160" cy="73152"/>
          </a:xfrm>
          <a:prstGeom prst="rect">
            <a:avLst/>
          </a:prstGeom>
          <a:solidFill>
            <a:srgbClr val="1A1A1A"/>
          </a:solidFill>
          <a:ln/>
        </p:spPr>
        <p:txBody>
          <a:bodyPr/>
          <a:lstStyle/>
          <a:p>
            <a:endParaRPr lang="en-IN"/>
          </a:p>
        </p:txBody>
      </p:sp>
      <p:sp>
        <p:nvSpPr>
          <p:cNvPr id="26" name="Text 24"/>
          <p:cNvSpPr/>
          <p:nvPr/>
        </p:nvSpPr>
        <p:spPr>
          <a:xfrm>
            <a:off x="8229600" y="4041648"/>
            <a:ext cx="3413760" cy="548640"/>
          </a:xfrm>
          <a:prstGeom prst="rect">
            <a:avLst/>
          </a:prstGeom>
          <a:noFill/>
          <a:ln/>
        </p:spPr>
        <p:txBody>
          <a:bodyPr wrap="square" rtlCol="0" anchor="ctr"/>
          <a:lstStyle/>
          <a:p>
            <a:pPr marL="0" indent="0">
              <a:buNone/>
            </a:pPr>
            <a:r>
              <a:rPr lang="en-US" b="1" dirty="0">
                <a:solidFill>
                  <a:srgbClr val="1A1A1A"/>
                </a:solidFill>
                <a:latin typeface="Times New Roman" panose="02020603050405020304" pitchFamily="18" charset="0"/>
                <a:ea typeface="Calibri" pitchFamily="34" charset="-122"/>
                <a:cs typeface="Times New Roman" panose="02020603050405020304" pitchFamily="18" charset="0"/>
              </a:rPr>
              <a:t>Deriving meaningful categories</a:t>
            </a:r>
            <a:endParaRPr lang="en-US" dirty="0">
              <a:latin typeface="Times New Roman" panose="02020603050405020304" pitchFamily="18" charset="0"/>
              <a:cs typeface="Times New Roman" panose="02020603050405020304" pitchFamily="18" charset="0"/>
            </a:endParaRPr>
          </a:p>
        </p:txBody>
      </p:sp>
      <p:sp>
        <p:nvSpPr>
          <p:cNvPr id="27" name="Text 25"/>
          <p:cNvSpPr/>
          <p:nvPr/>
        </p:nvSpPr>
        <p:spPr>
          <a:xfrm>
            <a:off x="8229600" y="4617720"/>
            <a:ext cx="3200400" cy="1280160"/>
          </a:xfrm>
          <a:prstGeom prst="rect">
            <a:avLst/>
          </a:prstGeom>
          <a:noFill/>
          <a:ln/>
        </p:spPr>
        <p:txBody>
          <a:bodyPr wrap="square" rtlCol="0" anchor="ctr"/>
          <a:lstStyle/>
          <a:p>
            <a:pPr marL="0" indent="0">
              <a:lnSpc>
                <a:spcPct val="120000"/>
              </a:lnSpc>
              <a:buNone/>
            </a:pPr>
            <a:r>
              <a:rPr lang="en-US" sz="1600" dirty="0">
                <a:solidFill>
                  <a:srgbClr val="3A3A3A"/>
                </a:solidFill>
                <a:latin typeface="Times New Roman" panose="02020603050405020304" pitchFamily="18" charset="0"/>
                <a:ea typeface="Calibri" pitchFamily="34" charset="-122"/>
                <a:cs typeface="Times New Roman" panose="02020603050405020304" pitchFamily="18" charset="0"/>
              </a:rPr>
              <a:t>Defining sensible Budget / Mid-Range / Premium price cutoffs that reflected the real distribution.</a:t>
            </a:r>
            <a:endParaRPr lang="en-US" sz="1600" dirty="0">
              <a:latin typeface="Times New Roman" panose="02020603050405020304" pitchFamily="18" charset="0"/>
              <a:cs typeface="Times New Roman" panose="02020603050405020304" pitchFamily="18" charset="0"/>
            </a:endParaRPr>
          </a:p>
        </p:txBody>
      </p:sp>
      <p:sp>
        <p:nvSpPr>
          <p:cNvPr id="28" name="Text 26"/>
          <p:cNvSpPr/>
          <p:nvPr/>
        </p:nvSpPr>
        <p:spPr>
          <a:xfrm>
            <a:off x="457200" y="6537960"/>
            <a:ext cx="5486400" cy="274320"/>
          </a:xfrm>
          <a:prstGeom prst="rect">
            <a:avLst/>
          </a:prstGeom>
          <a:noFill/>
          <a:ln/>
        </p:spPr>
        <p:txBody>
          <a:bodyPr wrap="square" rtlCol="0" anchor="ctr"/>
          <a:lstStyle/>
          <a:p>
            <a:pPr marL="0" indent="0" algn="l">
              <a:buNone/>
            </a:pPr>
            <a:r>
              <a:rPr lang="en-US" sz="900" dirty="0">
                <a:solidFill>
                  <a:srgbClr val="6B6B6B"/>
                </a:solidFill>
                <a:latin typeface="Calibri" pitchFamily="34" charset="0"/>
                <a:ea typeface="Calibri" pitchFamily="34" charset="-122"/>
                <a:cs typeface="Calibri" pitchFamily="34" charset="-120"/>
              </a:rPr>
              <a:t>INNOMATICS RESEARCH LABS</a:t>
            </a:r>
            <a:endParaRPr lang="en-US" sz="900" dirty="0"/>
          </a:p>
        </p:txBody>
      </p:sp>
      <p:sp>
        <p:nvSpPr>
          <p:cNvPr id="29" name="Text 27"/>
          <p:cNvSpPr/>
          <p:nvPr/>
        </p:nvSpPr>
        <p:spPr>
          <a:xfrm>
            <a:off x="11274552" y="6537960"/>
            <a:ext cx="457200" cy="274320"/>
          </a:xfrm>
          <a:prstGeom prst="rect">
            <a:avLst/>
          </a:prstGeom>
          <a:noFill/>
          <a:ln/>
        </p:spPr>
        <p:txBody>
          <a:bodyPr wrap="square" rtlCol="0" anchor="ctr"/>
          <a:lstStyle/>
          <a:p>
            <a:pPr marL="0" indent="0" algn="r">
              <a:buNone/>
            </a:pPr>
            <a:r>
              <a:rPr lang="en-US" sz="900" dirty="0">
                <a:solidFill>
                  <a:srgbClr val="6B6B6B"/>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rot="-480000">
            <a:off x="-1097280" y="-548640"/>
            <a:ext cx="4572000" cy="1188720"/>
          </a:xfrm>
          <a:prstGeom prst="rect">
            <a:avLst/>
          </a:prstGeom>
          <a:solidFill>
            <a:srgbClr val="C8102E"/>
          </a:solidFill>
          <a:ln/>
        </p:spPr>
        <p:txBody>
          <a:bodyPr/>
          <a:lstStyle/>
          <a:p>
            <a:endParaRPr lang="en-IN"/>
          </a:p>
        </p:txBody>
      </p:sp>
      <p:sp>
        <p:nvSpPr>
          <p:cNvPr id="3" name="Shape 1"/>
          <p:cNvSpPr/>
          <p:nvPr/>
        </p:nvSpPr>
        <p:spPr>
          <a:xfrm rot="-480000">
            <a:off x="-1371600" y="457200"/>
            <a:ext cx="4114800" cy="320040"/>
          </a:xfrm>
          <a:prstGeom prst="rect">
            <a:avLst/>
          </a:prstGeom>
          <a:solidFill>
            <a:srgbClr val="1A1A1A"/>
          </a:solidFill>
          <a:ln/>
        </p:spPr>
        <p:txBody>
          <a:bodyPr/>
          <a:lstStyle/>
          <a:p>
            <a:endParaRPr lang="en-IN"/>
          </a:p>
        </p:txBody>
      </p:sp>
      <p:sp>
        <p:nvSpPr>
          <p:cNvPr id="4" name="Shape 2"/>
          <p:cNvSpPr/>
          <p:nvPr/>
        </p:nvSpPr>
        <p:spPr>
          <a:xfrm rot="-480000">
            <a:off x="8778240" y="5760720"/>
            <a:ext cx="4572000" cy="1188720"/>
          </a:xfrm>
          <a:prstGeom prst="rect">
            <a:avLst/>
          </a:prstGeom>
          <a:solidFill>
            <a:srgbClr val="C8102E"/>
          </a:solidFill>
          <a:ln/>
        </p:spPr>
        <p:txBody>
          <a:bodyPr/>
          <a:lstStyle/>
          <a:p>
            <a:endParaRPr lang="en-IN"/>
          </a:p>
        </p:txBody>
      </p:sp>
      <p:sp>
        <p:nvSpPr>
          <p:cNvPr id="5" name="Shape 3"/>
          <p:cNvSpPr/>
          <p:nvPr/>
        </p:nvSpPr>
        <p:spPr>
          <a:xfrm rot="-480000">
            <a:off x="9052560" y="6172200"/>
            <a:ext cx="3840480" cy="274320"/>
          </a:xfrm>
          <a:prstGeom prst="rect">
            <a:avLst/>
          </a:prstGeom>
          <a:solidFill>
            <a:srgbClr val="1A1A1A"/>
          </a:solidFill>
          <a:ln/>
        </p:spPr>
        <p:txBody>
          <a:bodyPr/>
          <a:lstStyle/>
          <a:p>
            <a:endParaRPr lang="en-IN"/>
          </a:p>
        </p:txBody>
      </p:sp>
      <p:sp>
        <p:nvSpPr>
          <p:cNvPr id="6" name="Text 4"/>
          <p:cNvSpPr/>
          <p:nvPr/>
        </p:nvSpPr>
        <p:spPr>
          <a:xfrm>
            <a:off x="3048" y="2971800"/>
            <a:ext cx="12188952" cy="914400"/>
          </a:xfrm>
          <a:prstGeom prst="rect">
            <a:avLst/>
          </a:prstGeom>
          <a:noFill/>
          <a:ln/>
        </p:spPr>
        <p:txBody>
          <a:bodyPr wrap="square" rtlCol="0" anchor="ctr"/>
          <a:lstStyle/>
          <a:p>
            <a:pPr marL="0" indent="0" algn="ctr">
              <a:buNone/>
            </a:pPr>
            <a:r>
              <a:rPr lang="en-US" sz="4400" b="1" dirty="0">
                <a:solidFill>
                  <a:srgbClr val="C8102E"/>
                </a:solidFill>
                <a:latin typeface="Cambria" pitchFamily="34" charset="0"/>
                <a:ea typeface="Cambria" pitchFamily="34" charset="-122"/>
                <a:cs typeface="Cambria" pitchFamily="34" charset="-120"/>
              </a:rPr>
              <a:t>THANK YOU</a:t>
            </a:r>
            <a:endParaRPr lang="en-US" sz="4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128</TotalTime>
  <Words>1373</Words>
  <Application>Microsoft Office PowerPoint</Application>
  <PresentationFormat>Widescreen</PresentationFormat>
  <Paragraphs>241</Paragraphs>
  <Slides>18</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Jidugu Venu Madhav</cp:lastModifiedBy>
  <cp:revision>2</cp:revision>
  <dcterms:created xsi:type="dcterms:W3CDTF">2026-07-24T09:22:06Z</dcterms:created>
  <dcterms:modified xsi:type="dcterms:W3CDTF">2026-07-25T10:28:40Z</dcterms:modified>
</cp:coreProperties>
</file>